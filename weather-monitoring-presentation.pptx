
<file path=[Content_Types].xml><?xml version="1.0" encoding="utf-8"?>
<Types xmlns="http://schemas.openxmlformats.org/package/2006/content-types">
  <Default Extension="bin" ContentType="image/unknown"/>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3" r:id="rId1"/>
    <p:sldMasterId id="2147483812" r:id="rId2"/>
  </p:sldMasterIdLst>
  <p:notesMasterIdLst>
    <p:notesMasterId r:id="rId19"/>
  </p:notesMasterIdLst>
  <p:sldIdLst>
    <p:sldId id="275" r:id="rId3"/>
    <p:sldId id="256" r:id="rId4"/>
    <p:sldId id="278" r:id="rId5"/>
    <p:sldId id="263" r:id="rId6"/>
    <p:sldId id="268" r:id="rId7"/>
    <p:sldId id="279" r:id="rId8"/>
    <p:sldId id="258" r:id="rId9"/>
    <p:sldId id="277" r:id="rId10"/>
    <p:sldId id="272" r:id="rId11"/>
    <p:sldId id="273" r:id="rId12"/>
    <p:sldId id="269" r:id="rId13"/>
    <p:sldId id="270" r:id="rId14"/>
    <p:sldId id="261" r:id="rId15"/>
    <p:sldId id="267" r:id="rId16"/>
    <p:sldId id="276" r:id="rId17"/>
    <p:sldId id="262" r:id="rId18"/>
  </p:sldIdLst>
  <p:sldSz cx="9144000" cy="5143500" type="screen16x9"/>
  <p:notesSz cx="6858000" cy="9144000"/>
  <p:embeddedFontLst>
    <p:embeddedFont>
      <p:font typeface="Arial Black" panose="020B0A04020102020204" pitchFamily="34" charset="0"/>
      <p:bold r:id="rId20"/>
    </p:embeddedFont>
    <p:embeddedFont>
      <p:font typeface="Calibri" panose="020F0502020204030204" pitchFamily="34" charset="0"/>
      <p:regular r:id="rId21"/>
      <p:bold r:id="rId22"/>
      <p:italic r:id="rId23"/>
      <p:boldItalic r:id="rId24"/>
    </p:embeddedFont>
    <p:embeddedFont>
      <p:font typeface="Calibri Light" panose="020F0302020204030204" pitchFamily="34" charset="0"/>
      <p:regular r:id="rId25"/>
      <p:italic r:id="rId26"/>
    </p:embeddedFont>
    <p:embeddedFont>
      <p:font typeface="Dutch801 Rm BT" panose="02020603060505020304" pitchFamily="18" charset="0"/>
      <p:regular r:id="rId27"/>
      <p:bold r:id="rId28"/>
      <p:italic r:id="rId29"/>
      <p:boldItalic r:id="rId30"/>
    </p:embeddedFont>
    <p:embeddedFont>
      <p:font typeface="Engravers MT" panose="02090707080505020304" pitchFamily="18" charset="0"/>
      <p:regular r:id="rId31"/>
    </p:embeddedFont>
    <p:embeddedFont>
      <p:font typeface="Tw Cen MT" panose="020B0602020104020603" pitchFamily="34" charset="0"/>
      <p:regular r:id="rId32"/>
      <p:bold r:id="rId33"/>
      <p:italic r:id="rId34"/>
      <p:boldItalic r:id="rId3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A1A6"/>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7.fntdata"/><Relationship Id="rId39" Type="http://schemas.openxmlformats.org/officeDocument/2006/relationships/tableStyles" Target="tableStyles.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3a0103c91c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3a0103c91c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3a0103c91c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3a0103c91c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3a0103c91c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3a0103c91c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 y="-1"/>
            <a:ext cx="9144002" cy="51435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1" y="0"/>
            <a:ext cx="1728788" cy="51435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407319" y="841772"/>
            <a:ext cx="6593681" cy="1790700"/>
          </a:xfrm>
        </p:spPr>
        <p:txBody>
          <a:bodyPr anchor="b">
            <a:normAutofit/>
          </a:bodyPr>
          <a:lstStyle>
            <a:lvl1pPr algn="l">
              <a:defRPr sz="3600"/>
            </a:lvl1pPr>
          </a:lstStyle>
          <a:p>
            <a:r>
              <a:rPr lang="en-US"/>
              <a:t>Click to edit Master title style</a:t>
            </a:r>
            <a:endParaRPr lang="en-US" dirty="0"/>
          </a:p>
        </p:txBody>
      </p:sp>
      <p:sp>
        <p:nvSpPr>
          <p:cNvPr id="3" name="Subtitle 2"/>
          <p:cNvSpPr>
            <a:spLocks noGrp="1"/>
          </p:cNvSpPr>
          <p:nvPr>
            <p:ph type="subTitle" idx="1"/>
          </p:nvPr>
        </p:nvSpPr>
        <p:spPr>
          <a:xfrm>
            <a:off x="1407319" y="2701528"/>
            <a:ext cx="6593681" cy="1241822"/>
          </a:xfrm>
        </p:spPr>
        <p:txBody>
          <a:bodyPr>
            <a:normAutofit/>
          </a:bodyPr>
          <a:lstStyle>
            <a:lvl1pPr marL="0" indent="0" algn="l">
              <a:buNone/>
              <a:defRPr sz="1500" cap="all" baseline="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308133" y="4057651"/>
            <a:ext cx="2057400" cy="273844"/>
          </a:xfrm>
        </p:spPr>
        <p:txBody>
          <a:bodyPr/>
          <a:lstStyle/>
          <a:p>
            <a:fld id="{48A87A34-81AB-432B-8DAE-1953F412C126}" type="datetimeFigureOut">
              <a:rPr lang="en-US" smtClean="0"/>
              <a:t>11/3/2023</a:t>
            </a:fld>
            <a:endParaRPr lang="en-US" dirty="0"/>
          </a:p>
        </p:txBody>
      </p:sp>
      <p:sp>
        <p:nvSpPr>
          <p:cNvPr id="5" name="Footer Placeholder 4"/>
          <p:cNvSpPr>
            <a:spLocks noGrp="1"/>
          </p:cNvSpPr>
          <p:nvPr>
            <p:ph type="ftr" sz="quarter" idx="11"/>
          </p:nvPr>
        </p:nvSpPr>
        <p:spPr>
          <a:xfrm>
            <a:off x="1407318" y="4057651"/>
            <a:ext cx="3843665" cy="273844"/>
          </a:xfrm>
        </p:spPr>
        <p:txBody>
          <a:bodyPr/>
          <a:lstStyle/>
          <a:p>
            <a:endParaRPr lang="en-US" dirty="0"/>
          </a:p>
        </p:txBody>
      </p:sp>
      <p:sp>
        <p:nvSpPr>
          <p:cNvPr id="6" name="Slide Number Placeholder 5"/>
          <p:cNvSpPr>
            <a:spLocks noGrp="1"/>
          </p:cNvSpPr>
          <p:nvPr>
            <p:ph type="sldNum" sz="quarter" idx="12"/>
          </p:nvPr>
        </p:nvSpPr>
        <p:spPr>
          <a:xfrm>
            <a:off x="7422684" y="4057650"/>
            <a:ext cx="578317" cy="273844"/>
          </a:xfrm>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383195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96181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064420"/>
            <a:ext cx="7429500" cy="2139553"/>
          </a:xfrm>
        </p:spPr>
        <p:txBody>
          <a:bodyPr anchor="b">
            <a:normAutofit/>
          </a:bodyPr>
          <a:lstStyle>
            <a:lvl1pPr>
              <a:defRPr sz="2700"/>
            </a:lvl1pPr>
          </a:lstStyle>
          <a:p>
            <a:r>
              <a:rPr lang="en-US"/>
              <a:t>Click to edit Master title style</a:t>
            </a:r>
            <a:endParaRPr lang="en-US" dirty="0"/>
          </a:p>
        </p:txBody>
      </p:sp>
      <p:sp>
        <p:nvSpPr>
          <p:cNvPr id="3" name="Text Placeholder 2"/>
          <p:cNvSpPr>
            <a:spLocks noGrp="1"/>
          </p:cNvSpPr>
          <p:nvPr>
            <p:ph type="body" idx="1"/>
          </p:nvPr>
        </p:nvSpPr>
        <p:spPr>
          <a:xfrm>
            <a:off x="856058" y="3318272"/>
            <a:ext cx="7429500" cy="1031082"/>
          </a:xfrm>
        </p:spPr>
        <p:txBody>
          <a:bodyPr>
            <a:normAutofit/>
          </a:bodyPr>
          <a:lstStyle>
            <a:lvl1pPr marL="0" indent="0">
              <a:buNone/>
              <a:defRPr sz="1350" cap="all" baseline="0">
                <a:solidFill>
                  <a:schemeClr val="tx1">
                    <a:tint val="75000"/>
                  </a:schemeClr>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997674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1687114"/>
            <a:ext cx="3658792" cy="2656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1687114"/>
            <a:ext cx="3656408" cy="2656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35370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464345"/>
            <a:ext cx="7429500" cy="110847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7515" y="1687115"/>
            <a:ext cx="3487337" cy="61793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56058" y="2305048"/>
            <a:ext cx="3658793" cy="2038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0606" y="1687114"/>
            <a:ext cx="3484952" cy="61793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305048"/>
            <a:ext cx="3656408" cy="2038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421683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069056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012635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457201"/>
            <a:ext cx="2892028" cy="1229913"/>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67150" y="444499"/>
            <a:ext cx="4418407" cy="389890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1687114"/>
            <a:ext cx="2892028" cy="2656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9061423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0" y="457200"/>
            <a:ext cx="4450881" cy="1229915"/>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5541" y="457201"/>
            <a:ext cx="2750018" cy="38861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6058" y="1687114"/>
            <a:ext cx="4450883" cy="2656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585011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3228499"/>
            <a:ext cx="7434266" cy="614516"/>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454819"/>
            <a:ext cx="7434266" cy="2474834"/>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4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3843015"/>
            <a:ext cx="7433144" cy="511854"/>
          </a:xfrm>
        </p:spPr>
        <p:txBody>
          <a:bodyP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672741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457200"/>
            <a:ext cx="7429466" cy="2571750"/>
          </a:xfrm>
        </p:spPr>
        <p:txBody>
          <a:bodyPr anchor="ctr">
            <a:normAutofit/>
          </a:bodyPr>
          <a:lstStyle>
            <a:lvl1pPr>
              <a:defRPr sz="2700"/>
            </a:lvl1pPr>
          </a:lstStyle>
          <a:p>
            <a:r>
              <a:rPr lang="en-US"/>
              <a:t>Click to edit Master title style</a:t>
            </a:r>
            <a:endParaRPr lang="en-US" dirty="0"/>
          </a:p>
        </p:txBody>
      </p:sp>
      <p:sp>
        <p:nvSpPr>
          <p:cNvPr id="4" name="Text Placeholder 3"/>
          <p:cNvSpPr>
            <a:spLocks noGrp="1"/>
          </p:cNvSpPr>
          <p:nvPr>
            <p:ph type="body" sz="half" idx="2"/>
          </p:nvPr>
        </p:nvSpPr>
        <p:spPr>
          <a:xfrm>
            <a:off x="856058" y="3314700"/>
            <a:ext cx="7428344" cy="1028699"/>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970607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061322"/>
          </a:xfrm>
        </p:spPr>
        <p:txBody>
          <a:bodyPr anchor="ctr">
            <a:normAutofit/>
          </a:bodyPr>
          <a:lstStyle>
            <a:lvl1pPr>
              <a:defRPr sz="27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524168"/>
            <a:ext cx="6564224" cy="411726"/>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856058" y="3232439"/>
            <a:ext cx="7429502" cy="1117122"/>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60" name="TextBox 59"/>
          <p:cNvSpPr txBox="1"/>
          <p:nvPr/>
        </p:nvSpPr>
        <p:spPr>
          <a:xfrm>
            <a:off x="677634" y="549295"/>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61" name="TextBox 60"/>
          <p:cNvSpPr txBox="1"/>
          <p:nvPr/>
        </p:nvSpPr>
        <p:spPr>
          <a:xfrm>
            <a:off x="7903028" y="2073729"/>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40182016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1600531"/>
            <a:ext cx="7429501" cy="1883876"/>
          </a:xfrm>
        </p:spPr>
        <p:txBody>
          <a:bodyPr anchor="b">
            <a:normAutofit/>
          </a:bodyPr>
          <a:lstStyle>
            <a:lvl1pPr>
              <a:defRPr sz="2700"/>
            </a:lvl1pPr>
          </a:lstStyle>
          <a:p>
            <a:r>
              <a:rPr lang="en-US"/>
              <a:t>Click to edit Master title style</a:t>
            </a:r>
            <a:endParaRPr lang="en-US" dirty="0"/>
          </a:p>
        </p:txBody>
      </p:sp>
      <p:sp>
        <p:nvSpPr>
          <p:cNvPr id="4" name="Text Placeholder 3"/>
          <p:cNvSpPr>
            <a:spLocks noGrp="1"/>
          </p:cNvSpPr>
          <p:nvPr>
            <p:ph type="body" sz="half" idx="2"/>
          </p:nvPr>
        </p:nvSpPr>
        <p:spPr>
          <a:xfrm>
            <a:off x="856023" y="3493241"/>
            <a:ext cx="7428379" cy="855483"/>
          </a:xfrm>
        </p:spPr>
        <p:txBody>
          <a:bodyPr anchor="t">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853173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457200"/>
            <a:ext cx="7429499" cy="14287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005847"/>
            <a:ext cx="2397674"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845939" y="2520197"/>
            <a:ext cx="2406551"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86075" y="2008226"/>
            <a:ext cx="2388289"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78160" y="2522576"/>
            <a:ext cx="2396873"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89332" y="2005847"/>
            <a:ext cx="2396226"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889332" y="2520197"/>
            <a:ext cx="2396226"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11/3/2023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5440691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457200"/>
            <a:ext cx="7429499" cy="14287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3303447"/>
            <a:ext cx="2396430"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856060" y="2000249"/>
            <a:ext cx="2396430"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3735644"/>
            <a:ext cx="2396430" cy="61338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66790" y="3303447"/>
            <a:ext cx="2400300"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366790" y="2000249"/>
            <a:ext cx="2399205"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3735643"/>
            <a:ext cx="2400300" cy="607757"/>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89426" y="3303446"/>
            <a:ext cx="2393056"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89332" y="2000249"/>
            <a:ext cx="2396227"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3735641"/>
            <a:ext cx="2396226" cy="60775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11/3/2023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5330210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715311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457200"/>
            <a:ext cx="1503758" cy="38862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457200"/>
            <a:ext cx="5811443" cy="3886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5025806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446792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C524F-02F1-C51D-96CA-FCE3C8D8528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7828420C-4CD2-8BE0-620C-0420080C1B26}"/>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1CFCACB-DE8D-2D33-03BF-673B247A9224}"/>
              </a:ext>
            </a:extLst>
          </p:cNvPr>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5" name="Footer Placeholder 4">
            <a:extLst>
              <a:ext uri="{FF2B5EF4-FFF2-40B4-BE49-F238E27FC236}">
                <a16:creationId xmlns:a16="http://schemas.microsoft.com/office/drawing/2014/main" id="{4BF8B740-D4E3-669C-0628-45231B5D0EE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E0230D-F641-E346-78EA-BEE3FC92F8A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256776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11094-66A0-941D-7493-5B5A13E0C2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1040E2-2BAA-9116-DC1A-8935B4DE92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E3F5AD-03EC-ED0F-66F3-E6830E97D26D}"/>
              </a:ext>
            </a:extLst>
          </p:cNvPr>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5" name="Footer Placeholder 4">
            <a:extLst>
              <a:ext uri="{FF2B5EF4-FFF2-40B4-BE49-F238E27FC236}">
                <a16:creationId xmlns:a16="http://schemas.microsoft.com/office/drawing/2014/main" id="{139655B2-AFA8-7D83-1248-BFC0BF8774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34A475A-0EC9-6A3B-E5BA-3322EAE3ED3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795502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7E21-C56E-7C35-06CC-4DCC57BB4299}"/>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BFCB2D-E5AD-488E-CD51-A359C66F9F8D}"/>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F27053-D9E0-ABA0-E64E-6FC866AA670E}"/>
              </a:ext>
            </a:extLst>
          </p:cNvPr>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5" name="Footer Placeholder 4">
            <a:extLst>
              <a:ext uri="{FF2B5EF4-FFF2-40B4-BE49-F238E27FC236}">
                <a16:creationId xmlns:a16="http://schemas.microsoft.com/office/drawing/2014/main" id="{8DC63889-D470-53FA-71CA-AFA240F824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13F1E50-AD9E-884F-0758-16EC1228C6E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132655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2920-1238-DF8F-1338-6483317844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4314E3-D82B-ADDC-22ED-758F0831E59C}"/>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314B46C-F856-6256-4E69-1679AE1C69FB}"/>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824B136-E0C7-C728-CC06-D496FA0F4A0A}"/>
              </a:ext>
            </a:extLst>
          </p:cNvPr>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6" name="Footer Placeholder 5">
            <a:extLst>
              <a:ext uri="{FF2B5EF4-FFF2-40B4-BE49-F238E27FC236}">
                <a16:creationId xmlns:a16="http://schemas.microsoft.com/office/drawing/2014/main" id="{D73099A6-49EB-C3B9-4BB1-FA7B77519DB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5A883B0-F896-21E6-0CE8-EC43FC3430E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14095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39AC-2701-438E-DBB7-C192985E8E02}"/>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489485-1589-8A2A-75D8-E778077DEA3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2C9278B-8C69-0F33-6B93-00831A00F867}"/>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B555947-56C6-1FE1-455B-4D4FC037702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752DD81-2990-D56B-0E4C-4DB6C1A4CFF1}"/>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6A0A675-2F84-3B30-032D-B98C9D402774}"/>
              </a:ext>
            </a:extLst>
          </p:cNvPr>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8" name="Footer Placeholder 7">
            <a:extLst>
              <a:ext uri="{FF2B5EF4-FFF2-40B4-BE49-F238E27FC236}">
                <a16:creationId xmlns:a16="http://schemas.microsoft.com/office/drawing/2014/main" id="{282E9DEB-7083-86EF-E2A4-06DF41479F8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6BCEDAA-19C3-8569-EC6E-7FC7E8D0737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8595214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99F11-C79A-1B85-C5D9-E0AB835D65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036867-E44D-D220-8357-001CFD90321A}"/>
              </a:ext>
            </a:extLst>
          </p:cNvPr>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4" name="Footer Placeholder 3">
            <a:extLst>
              <a:ext uri="{FF2B5EF4-FFF2-40B4-BE49-F238E27FC236}">
                <a16:creationId xmlns:a16="http://schemas.microsoft.com/office/drawing/2014/main" id="{899FCE6C-6470-210D-6E30-B568BA33F2C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2768B86-4156-61C6-27F3-50A8187507F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943937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5838F1-AFFB-52F4-97E7-D43D9C9E2031}"/>
              </a:ext>
            </a:extLst>
          </p:cNvPr>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3" name="Footer Placeholder 2">
            <a:extLst>
              <a:ext uri="{FF2B5EF4-FFF2-40B4-BE49-F238E27FC236}">
                <a16:creationId xmlns:a16="http://schemas.microsoft.com/office/drawing/2014/main" id="{88EA93E1-7CD2-BC4A-D276-CFC70DB7930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A548313-CEA4-4D1D-80B4-6B04E07D637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51689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C6F1B-C652-E831-0D1C-83276225795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D850300-44A7-51E3-C411-FCB2692A113E}"/>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1776B69-147A-39FA-1743-FD7E53A7B61B}"/>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FBB233F-553E-6A0D-7F54-2BE31C43C95D}"/>
              </a:ext>
            </a:extLst>
          </p:cNvPr>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6" name="Footer Placeholder 5">
            <a:extLst>
              <a:ext uri="{FF2B5EF4-FFF2-40B4-BE49-F238E27FC236}">
                <a16:creationId xmlns:a16="http://schemas.microsoft.com/office/drawing/2014/main" id="{CF96AB30-1094-D370-3237-77F88D59811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1BF59DA-A2E4-A7CD-E2AA-2EED1866121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4552361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11D3D-A421-8B53-FFF4-B894AD03C06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211429-5116-F2F9-1D13-5D6A4EF3AABF}"/>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CB52196E-D4A7-8B66-DBA6-DD78A15FC9D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02D9A6C-CBBB-E04D-C618-74DFF92EBCC6}"/>
              </a:ext>
            </a:extLst>
          </p:cNvPr>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6" name="Footer Placeholder 5">
            <a:extLst>
              <a:ext uri="{FF2B5EF4-FFF2-40B4-BE49-F238E27FC236}">
                <a16:creationId xmlns:a16="http://schemas.microsoft.com/office/drawing/2014/main" id="{7462B048-4973-9BF3-FEB6-5004AFBA883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1AACB0-A143-50F9-58AA-2A70CDCDA68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692851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88906-65B9-2DAB-E64A-10450D1EC4A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761630-5230-96C9-3A5F-FF9B004AB8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DD153E-A7BC-98D8-3D71-B3515C177A0E}"/>
              </a:ext>
            </a:extLst>
          </p:cNvPr>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5" name="Footer Placeholder 4">
            <a:extLst>
              <a:ext uri="{FF2B5EF4-FFF2-40B4-BE49-F238E27FC236}">
                <a16:creationId xmlns:a16="http://schemas.microsoft.com/office/drawing/2014/main" id="{C2CFCE6D-FC63-9C9A-EF89-A9AC86D56ED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6EAB214-7E05-F199-8D16-1E35B22680D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456415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26E5A8-7C01-214D-83E3-26972DA625B2}"/>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B1517F-EEDC-ABBA-A8D4-BB638B586F57}"/>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EC25A8-08C9-A42B-5270-5AD441AA9427}"/>
              </a:ext>
            </a:extLst>
          </p:cNvPr>
          <p:cNvSpPr>
            <a:spLocks noGrp="1"/>
          </p:cNvSpPr>
          <p:nvPr>
            <p:ph type="dt" sz="half" idx="10"/>
          </p:nvPr>
        </p:nvSpPr>
        <p:spPr/>
        <p:txBody>
          <a:bodyPr/>
          <a:lstStyle/>
          <a:p>
            <a:fld id="{48A87A34-81AB-432B-8DAE-1953F412C126}" type="datetimeFigureOut">
              <a:rPr lang="en-US" smtClean="0"/>
              <a:t>11/3/2023</a:t>
            </a:fld>
            <a:endParaRPr lang="en-US" dirty="0"/>
          </a:p>
        </p:txBody>
      </p:sp>
      <p:sp>
        <p:nvSpPr>
          <p:cNvPr id="5" name="Footer Placeholder 4">
            <a:extLst>
              <a:ext uri="{FF2B5EF4-FFF2-40B4-BE49-F238E27FC236}">
                <a16:creationId xmlns:a16="http://schemas.microsoft.com/office/drawing/2014/main" id="{A12FEC53-DBA4-82A3-1E84-8190B4A6A61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3E5B4E4-26A3-F9BE-4EB4-5ABB2A27BEE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579012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1" y="-1"/>
            <a:ext cx="9144002" cy="51435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0716" y="0"/>
            <a:ext cx="9040416" cy="51435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856060" y="463888"/>
            <a:ext cx="7429499" cy="1108928"/>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1687115"/>
            <a:ext cx="7429499" cy="26562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4412457"/>
            <a:ext cx="205740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48A87A34-81AB-432B-8DAE-1953F412C126}" type="datetimeFigureOut">
              <a:rPr lang="en-US" smtClean="0"/>
              <a:pPr/>
              <a:t>11/3/2023</a:t>
            </a:fld>
            <a:endParaRPr lang="en-US" dirty="0"/>
          </a:p>
        </p:txBody>
      </p:sp>
      <p:sp>
        <p:nvSpPr>
          <p:cNvPr id="5" name="Footer Placeholder 4"/>
          <p:cNvSpPr>
            <a:spLocks noGrp="1"/>
          </p:cNvSpPr>
          <p:nvPr>
            <p:ph type="ftr" sz="quarter" idx="3"/>
          </p:nvPr>
        </p:nvSpPr>
        <p:spPr>
          <a:xfrm>
            <a:off x="856059" y="4412457"/>
            <a:ext cx="4679482" cy="273844"/>
          </a:xfrm>
          <a:prstGeom prst="rect">
            <a:avLst/>
          </a:prstGeom>
        </p:spPr>
        <p:txBody>
          <a:bodyPr vert="horz" lIns="91440" tIns="45720" rIns="91440" bIns="45720" rtlCol="0" anchor="ctr"/>
          <a:lstStyle>
            <a:lvl1pPr algn="l">
              <a:defRPr sz="788"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707241" y="4412456"/>
            <a:ext cx="578317" cy="273844"/>
          </a:xfrm>
          <a:prstGeom prst="rect">
            <a:avLst/>
          </a:prstGeom>
        </p:spPr>
        <p:txBody>
          <a:bodyPr vert="horz" lIns="91440" tIns="45720" rIns="91440" bIns="45720" rtlCol="0" anchor="ctr"/>
          <a:lstStyle>
            <a:lvl1pPr algn="r">
              <a:defRPr sz="788">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40698991"/>
      </p:ext>
    </p:extLst>
  </p:cSld>
  <p:clrMap bg1="dk1" tx1="lt1" bg2="dk2" tx2="lt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 id="2147483810" r:id="rId17"/>
    <p:sldLayoutId id="2147483811" r:id="rId18"/>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685800" rtl="0" eaLnBrk="1" latinLnBrk="0" hangingPunct="1">
        <a:lnSpc>
          <a:spcPct val="90000"/>
        </a:lnSpc>
        <a:spcBef>
          <a:spcPct val="0"/>
        </a:spcBef>
        <a:buNone/>
        <a:defRPr sz="2700" kern="1200" cap="all" baseline="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SzPct val="125000"/>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SzPct val="125000"/>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SzPct val="125000"/>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EF7C70-6E38-C8B3-E9F0-7C6FC7E1DBC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B47F5A-42F3-4CCA-1EE4-38055BD4595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CC2467-8E00-6868-83DC-B99C73480817}"/>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8A87A34-81AB-432B-8DAE-1953F412C126}" type="datetimeFigureOut">
              <a:rPr lang="en-US" smtClean="0"/>
              <a:pPr/>
              <a:t>11/3/2023</a:t>
            </a:fld>
            <a:endParaRPr lang="en-US" dirty="0"/>
          </a:p>
        </p:txBody>
      </p:sp>
      <p:sp>
        <p:nvSpPr>
          <p:cNvPr id="5" name="Footer Placeholder 4">
            <a:extLst>
              <a:ext uri="{FF2B5EF4-FFF2-40B4-BE49-F238E27FC236}">
                <a16:creationId xmlns:a16="http://schemas.microsoft.com/office/drawing/2014/main" id="{0428596F-AF06-ED0D-0581-DBC2905E264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E81FBCB-0FEE-C0D1-D4BF-AF3E2DF9401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70835146"/>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image" Target="../media/image5.jpg"/><Relationship Id="rId1" Type="http://schemas.openxmlformats.org/officeDocument/2006/relationships/slideLayout" Target="../slideLayouts/slideLayout15.xm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701348C-87EB-B119-BD01-8C7C6B19481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151021" y="-215903"/>
            <a:ext cx="4841958" cy="2594771"/>
          </a:xfrm>
          <a:prstGeom prst="rect">
            <a:avLst/>
          </a:prstGeom>
        </p:spPr>
      </p:pic>
      <p:sp>
        <p:nvSpPr>
          <p:cNvPr id="8" name="TextBox 7">
            <a:extLst>
              <a:ext uri="{FF2B5EF4-FFF2-40B4-BE49-F238E27FC236}">
                <a16:creationId xmlns:a16="http://schemas.microsoft.com/office/drawing/2014/main" id="{A9B68F7D-CC1C-D01F-8E95-D2552336108D}"/>
              </a:ext>
            </a:extLst>
          </p:cNvPr>
          <p:cNvSpPr txBox="1"/>
          <p:nvPr/>
        </p:nvSpPr>
        <p:spPr>
          <a:xfrm>
            <a:off x="421141" y="2133712"/>
            <a:ext cx="8418286" cy="3231654"/>
          </a:xfrm>
          <a:prstGeom prst="rect">
            <a:avLst/>
          </a:prstGeom>
          <a:noFill/>
        </p:spPr>
        <p:txBody>
          <a:bodyPr wrap="square" rtlCol="0">
            <a:spAutoFit/>
          </a:bodyPr>
          <a:lstStyle/>
          <a:p>
            <a:pPr algn="ctr"/>
            <a:r>
              <a:rPr lang="en-IN" sz="2800" b="1" dirty="0">
                <a:solidFill>
                  <a:schemeClr val="bg1"/>
                </a:solidFill>
                <a:latin typeface="Dutch801 Rm BT" panose="02020603060505020304" pitchFamily="18" charset="0"/>
              </a:rPr>
              <a:t>Department of Computer Science &amp; Engineering Artificial Intelligence &amp; Machine Learning</a:t>
            </a:r>
          </a:p>
          <a:p>
            <a:pPr algn="ctr"/>
            <a:r>
              <a:rPr lang="en-IN" sz="2000" dirty="0">
                <a:solidFill>
                  <a:schemeClr val="bg1"/>
                </a:solidFill>
                <a:latin typeface="Dutch801 Rm BT" panose="02020603060505020304" pitchFamily="18" charset="0"/>
              </a:rPr>
              <a:t>A.P. Shah Institute of Technology</a:t>
            </a:r>
          </a:p>
          <a:p>
            <a:pPr algn="ctr"/>
            <a:r>
              <a:rPr lang="en-IN" sz="2000" dirty="0" err="1">
                <a:solidFill>
                  <a:schemeClr val="bg1"/>
                </a:solidFill>
                <a:latin typeface="Dutch801 Rm BT" panose="02020603060505020304" pitchFamily="18" charset="0"/>
              </a:rPr>
              <a:t>G.B.Road</a:t>
            </a:r>
            <a:r>
              <a:rPr lang="en-IN" sz="2000" dirty="0">
                <a:solidFill>
                  <a:schemeClr val="bg1"/>
                </a:solidFill>
                <a:latin typeface="Dutch801 Rm BT" panose="02020603060505020304" pitchFamily="18" charset="0"/>
              </a:rPr>
              <a:t>, </a:t>
            </a:r>
            <a:r>
              <a:rPr lang="en-IN" sz="2000" dirty="0" err="1">
                <a:solidFill>
                  <a:schemeClr val="bg1"/>
                </a:solidFill>
                <a:latin typeface="Dutch801 Rm BT" panose="02020603060505020304" pitchFamily="18" charset="0"/>
              </a:rPr>
              <a:t>Kasarvadavli</a:t>
            </a:r>
            <a:r>
              <a:rPr lang="en-IN" sz="2000" dirty="0">
                <a:solidFill>
                  <a:schemeClr val="bg1"/>
                </a:solidFill>
                <a:latin typeface="Dutch801 Rm BT" panose="02020603060505020304" pitchFamily="18" charset="0"/>
              </a:rPr>
              <a:t>, Thane(W), Mumbai- 400615</a:t>
            </a:r>
          </a:p>
          <a:p>
            <a:pPr algn="ctr"/>
            <a:r>
              <a:rPr lang="en-IN" sz="2000" dirty="0">
                <a:solidFill>
                  <a:schemeClr val="bg1"/>
                </a:solidFill>
                <a:latin typeface="Dutch801 Rm BT" panose="02020603060505020304" pitchFamily="18" charset="0"/>
              </a:rPr>
              <a:t>UNIVERSITY OF MUMBAI</a:t>
            </a:r>
          </a:p>
          <a:p>
            <a:pPr algn="ctr"/>
            <a:r>
              <a:rPr lang="en-IN" sz="2000" dirty="0">
                <a:solidFill>
                  <a:schemeClr val="bg1"/>
                </a:solidFill>
                <a:latin typeface="Dutch801 Rm BT" panose="02020603060505020304" pitchFamily="18" charset="0"/>
              </a:rPr>
              <a:t>Academic Year 2023-2024</a:t>
            </a:r>
          </a:p>
          <a:p>
            <a:pPr algn="ctr"/>
            <a:endParaRPr lang="en-IN" sz="2000" dirty="0">
              <a:solidFill>
                <a:schemeClr val="bg1"/>
              </a:solidFill>
              <a:latin typeface="Dutch801 Rm BT" panose="02020603060505020304" pitchFamily="18" charset="0"/>
            </a:endParaRPr>
          </a:p>
          <a:p>
            <a:pPr algn="ctr"/>
            <a:endParaRPr lang="en-IN" sz="2000" dirty="0">
              <a:solidFill>
                <a:schemeClr val="bg1"/>
              </a:solidFill>
              <a:latin typeface="Dutch801 Rm BT" panose="02020603060505020304" pitchFamily="18" charset="0"/>
            </a:endParaRPr>
          </a:p>
          <a:p>
            <a:pPr algn="ctr"/>
            <a:endParaRPr lang="en-IN" sz="1400" b="1" dirty="0">
              <a:solidFill>
                <a:schemeClr val="bg1"/>
              </a:solidFill>
              <a:latin typeface="Engravers MT" panose="02090707080505020304" pitchFamily="18" charset="0"/>
            </a:endParaRPr>
          </a:p>
          <a:p>
            <a:pPr algn="ctr"/>
            <a:endParaRPr lang="en-IN" sz="1400" b="1" dirty="0">
              <a:solidFill>
                <a:schemeClr val="bg1"/>
              </a:solidFill>
              <a:latin typeface="Engravers MT" panose="02090707080505020304" pitchFamily="18" charset="0"/>
            </a:endParaRPr>
          </a:p>
        </p:txBody>
      </p:sp>
    </p:spTree>
    <p:extLst>
      <p:ext uri="{BB962C8B-B14F-4D97-AF65-F5344CB8AC3E}">
        <p14:creationId xmlns:p14="http://schemas.microsoft.com/office/powerpoint/2010/main" val="17085886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extLst>
              <a:ext uri="{BEBA8EAE-BF5A-486C-A8C5-ECC9F3942E4B}">
                <a14:imgProps xmlns:a14="http://schemas.microsoft.com/office/drawing/2010/main">
                  <a14:imgLayer r:embed="rId4">
                    <a14:imgEffect>
                      <a14:sharpenSoften amount="-7000"/>
                    </a14:imgEffect>
                    <a14:imgEffect>
                      <a14:brightnessContrast bright="-26000" contrast="-9000"/>
                    </a14:imgEffect>
                  </a14:imgLayer>
                </a14:imgProps>
              </a:ext>
            </a:extLst>
          </a:blip>
          <a:srcRect/>
          <a:stretch>
            <a:fillRect t="-9000" b="-9000"/>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74464" y="100014"/>
            <a:ext cx="8195072" cy="1007267"/>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spcFirstLastPara="1" wrap="square" lIns="91425" tIns="91425" rIns="91425" bIns="91425" anchor="b" anchorCtr="0">
            <a:noAutofit/>
          </a:bodyPr>
          <a:lstStyle/>
          <a:p>
            <a:pPr marL="0" lvl="0" indent="0" algn="ctr" rtl="0">
              <a:spcBef>
                <a:spcPts val="0"/>
              </a:spcBef>
              <a:spcAft>
                <a:spcPts val="0"/>
              </a:spcAft>
              <a:buNone/>
            </a:pPr>
            <a:r>
              <a:rPr lang="en" sz="3600" b="1" dirty="0">
                <a:solidFill>
                  <a:schemeClr val="bg1"/>
                </a:solidFill>
                <a:effectLst>
                  <a:outerShdw blurRad="38100" dist="38100" dir="2700000" algn="tl">
                    <a:srgbClr val="000000">
                      <a:alpha val="43137"/>
                    </a:srgbClr>
                  </a:outerShdw>
                </a:effectLst>
                <a:latin typeface="Dutch801 Rm BT" panose="02020603060505020304" pitchFamily="18" charset="0"/>
                <a:ea typeface="Artifakt Element Heavy" panose="020B0B03050000020004" pitchFamily="34" charset="0"/>
              </a:rPr>
              <a:t>IOT Based Weather Monitoring System</a:t>
            </a:r>
            <a:endParaRPr sz="3600" b="1" dirty="0">
              <a:solidFill>
                <a:schemeClr val="bg1"/>
              </a:solidFill>
              <a:effectLst>
                <a:outerShdw blurRad="38100" dist="38100" dir="2700000" algn="tl">
                  <a:srgbClr val="000000">
                    <a:alpha val="43137"/>
                  </a:srgbClr>
                </a:outerShdw>
              </a:effectLst>
              <a:latin typeface="Dutch801 Rm BT" panose="02020603060505020304" pitchFamily="18" charset="0"/>
              <a:ea typeface="Artifakt Element Heavy" panose="020B0B03050000020004" pitchFamily="34" charset="0"/>
            </a:endParaRPr>
          </a:p>
        </p:txBody>
      </p:sp>
      <p:sp>
        <p:nvSpPr>
          <p:cNvPr id="3" name="TextBox 2">
            <a:extLst>
              <a:ext uri="{FF2B5EF4-FFF2-40B4-BE49-F238E27FC236}">
                <a16:creationId xmlns:a16="http://schemas.microsoft.com/office/drawing/2014/main" id="{881BDCEC-14AD-7E62-04B6-57794DF9B3E1}"/>
              </a:ext>
            </a:extLst>
          </p:cNvPr>
          <p:cNvSpPr txBox="1"/>
          <p:nvPr/>
        </p:nvSpPr>
        <p:spPr>
          <a:xfrm>
            <a:off x="2050256" y="1511640"/>
            <a:ext cx="5043488" cy="3139321"/>
          </a:xfrm>
          <a:prstGeom prst="rect">
            <a:avLst/>
          </a:prstGeom>
          <a:noFill/>
        </p:spPr>
        <p:txBody>
          <a:bodyPr wrap="square" rtlCol="0">
            <a:spAutoFit/>
          </a:bodyPr>
          <a:lstStyle/>
          <a:p>
            <a:pPr algn="ctr"/>
            <a:r>
              <a:rPr lang="en-IN" dirty="0">
                <a:solidFill>
                  <a:schemeClr val="bg1"/>
                </a:solidFill>
                <a:latin typeface="Dutch801 Rm BT" panose="02020603060505020304" pitchFamily="18" charset="0"/>
              </a:rPr>
              <a:t>Computer Science &amp; Engineering Artificial Intelligence and Machine Learning </a:t>
            </a:r>
          </a:p>
          <a:p>
            <a:pPr algn="ctr"/>
            <a:r>
              <a:rPr lang="en-IN" dirty="0">
                <a:solidFill>
                  <a:schemeClr val="bg1"/>
                </a:solidFill>
                <a:latin typeface="Dutch801 Rm BT" panose="02020603060505020304" pitchFamily="18" charset="0"/>
              </a:rPr>
              <a:t>By</a:t>
            </a:r>
          </a:p>
          <a:p>
            <a:pPr algn="ctr"/>
            <a:r>
              <a:rPr lang="en-IN" dirty="0" err="1">
                <a:solidFill>
                  <a:schemeClr val="bg1"/>
                </a:solidFill>
                <a:latin typeface="Dutch801 Rm BT" panose="02020603060505020304" pitchFamily="18" charset="0"/>
              </a:rPr>
              <a:t>Maitreyi</a:t>
            </a:r>
            <a:r>
              <a:rPr lang="en-IN" dirty="0">
                <a:solidFill>
                  <a:schemeClr val="bg1"/>
                </a:solidFill>
                <a:latin typeface="Dutch801 Rm BT" panose="02020603060505020304" pitchFamily="18" charset="0"/>
              </a:rPr>
              <a:t> </a:t>
            </a:r>
            <a:r>
              <a:rPr lang="en-IN" dirty="0" err="1">
                <a:solidFill>
                  <a:schemeClr val="bg1"/>
                </a:solidFill>
                <a:latin typeface="Dutch801 Rm BT" panose="02020603060505020304" pitchFamily="18" charset="0"/>
              </a:rPr>
              <a:t>Phadke</a:t>
            </a:r>
            <a:r>
              <a:rPr lang="en-IN" dirty="0">
                <a:solidFill>
                  <a:schemeClr val="bg1"/>
                </a:solidFill>
                <a:latin typeface="Dutch801 Rm BT" panose="02020603060505020304" pitchFamily="18" charset="0"/>
              </a:rPr>
              <a:t> (22106007)</a:t>
            </a:r>
          </a:p>
          <a:p>
            <a:pPr algn="ctr"/>
            <a:r>
              <a:rPr lang="en-IN" dirty="0" err="1">
                <a:solidFill>
                  <a:schemeClr val="bg1"/>
                </a:solidFill>
                <a:latin typeface="Dutch801 Rm BT" panose="02020603060505020304" pitchFamily="18" charset="0"/>
              </a:rPr>
              <a:t>Rutuja</a:t>
            </a:r>
            <a:r>
              <a:rPr lang="en-IN" dirty="0">
                <a:solidFill>
                  <a:schemeClr val="bg1"/>
                </a:solidFill>
                <a:latin typeface="Dutch801 Rm BT" panose="02020603060505020304" pitchFamily="18" charset="0"/>
              </a:rPr>
              <a:t> Pawar (22106043)</a:t>
            </a:r>
          </a:p>
          <a:p>
            <a:pPr algn="ctr"/>
            <a:r>
              <a:rPr lang="en-IN" dirty="0">
                <a:solidFill>
                  <a:schemeClr val="bg1"/>
                </a:solidFill>
                <a:latin typeface="Dutch801 Rm BT" panose="02020603060505020304" pitchFamily="18" charset="0"/>
              </a:rPr>
              <a:t>Gauri </a:t>
            </a:r>
            <a:r>
              <a:rPr lang="en-IN" dirty="0" err="1">
                <a:solidFill>
                  <a:schemeClr val="bg1"/>
                </a:solidFill>
                <a:latin typeface="Dutch801 Rm BT" panose="02020603060505020304" pitchFamily="18" charset="0"/>
              </a:rPr>
              <a:t>Ramekar</a:t>
            </a:r>
            <a:r>
              <a:rPr lang="en-IN" dirty="0">
                <a:solidFill>
                  <a:schemeClr val="bg1"/>
                </a:solidFill>
                <a:latin typeface="Dutch801 Rm BT" panose="02020603060505020304" pitchFamily="18" charset="0"/>
              </a:rPr>
              <a:t> (22106068)</a:t>
            </a:r>
          </a:p>
          <a:p>
            <a:pPr algn="ctr"/>
            <a:r>
              <a:rPr lang="en-IN" dirty="0">
                <a:solidFill>
                  <a:schemeClr val="bg1"/>
                </a:solidFill>
                <a:latin typeface="Dutch801 Rm BT" panose="02020603060505020304" pitchFamily="18" charset="0"/>
              </a:rPr>
              <a:t>Pratiksha Pathak (22106127)</a:t>
            </a:r>
          </a:p>
          <a:p>
            <a:pPr algn="ctr"/>
            <a:endParaRPr lang="en-IN" dirty="0">
              <a:solidFill>
                <a:schemeClr val="bg1"/>
              </a:solidFill>
              <a:latin typeface="Dutch801 Rm BT" panose="02020603060505020304" pitchFamily="18" charset="0"/>
            </a:endParaRPr>
          </a:p>
          <a:p>
            <a:pPr algn="ctr"/>
            <a:r>
              <a:rPr lang="en-IN" dirty="0">
                <a:solidFill>
                  <a:schemeClr val="bg1"/>
                </a:solidFill>
                <a:latin typeface="Dutch801 Rm BT" panose="02020603060505020304" pitchFamily="18" charset="0"/>
              </a:rPr>
              <a:t>Under the Guidance of Prof. </a:t>
            </a:r>
            <a:r>
              <a:rPr lang="en-IN" dirty="0" err="1">
                <a:solidFill>
                  <a:schemeClr val="bg1"/>
                </a:solidFill>
                <a:latin typeface="Dutch801 Rm BT" panose="02020603060505020304" pitchFamily="18" charset="0"/>
              </a:rPr>
              <a:t>Monali</a:t>
            </a:r>
            <a:r>
              <a:rPr lang="en-IN" dirty="0">
                <a:solidFill>
                  <a:schemeClr val="bg1"/>
                </a:solidFill>
                <a:latin typeface="Dutch801 Rm BT" panose="02020603060505020304" pitchFamily="18" charset="0"/>
              </a:rPr>
              <a:t> </a:t>
            </a:r>
            <a:r>
              <a:rPr lang="en-IN" dirty="0" err="1">
                <a:solidFill>
                  <a:schemeClr val="bg1"/>
                </a:solidFill>
                <a:latin typeface="Dutch801 Rm BT" panose="02020603060505020304" pitchFamily="18" charset="0"/>
              </a:rPr>
              <a:t>Korde</a:t>
            </a:r>
            <a:endParaRPr lang="en-IN" dirty="0">
              <a:solidFill>
                <a:schemeClr val="bg1"/>
              </a:solidFill>
              <a:latin typeface="Dutch801 Rm BT" panose="02020603060505020304" pitchFamily="18" charset="0"/>
            </a:endParaRPr>
          </a:p>
          <a:p>
            <a:pPr algn="ctr"/>
            <a:endParaRPr lang="en-IN" dirty="0">
              <a:solidFill>
                <a:schemeClr val="bg1"/>
              </a:solidFill>
              <a:latin typeface="Dutch801 Rm BT" panose="02020603060505020304" pitchFamily="18" charset="0"/>
            </a:endParaRPr>
          </a:p>
          <a:p>
            <a:pPr algn="ctr"/>
            <a:endParaRPr lang="en-IN" dirty="0">
              <a:solidFill>
                <a:schemeClr val="bg1"/>
              </a:solidFill>
              <a:latin typeface="Dutch801 Rm BT" panose="020206030605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9A539-7E2B-A371-8E21-645E0F5EE66C}"/>
              </a:ext>
            </a:extLst>
          </p:cNvPr>
          <p:cNvSpPr>
            <a:spLocks noGrp="1"/>
          </p:cNvSpPr>
          <p:nvPr>
            <p:ph type="title"/>
          </p:nvPr>
        </p:nvSpPr>
        <p:spPr>
          <a:xfrm>
            <a:off x="856059" y="92414"/>
            <a:ext cx="7429499" cy="643392"/>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p>
            <a:pPr algn="ctr"/>
            <a:r>
              <a:rPr lang="en-IN" sz="4000" b="1" dirty="0">
                <a:solidFill>
                  <a:schemeClr val="bg1"/>
                </a:solidFill>
                <a:effectLst>
                  <a:outerShdw blurRad="38100" dist="38100" dir="2700000" algn="tl">
                    <a:srgbClr val="000000">
                      <a:alpha val="43137"/>
                    </a:srgbClr>
                  </a:outerShdw>
                </a:effectLst>
                <a:latin typeface="Arial Black" panose="020B0A04020102020204" pitchFamily="34" charset="0"/>
              </a:rPr>
              <a:t>INDEX</a:t>
            </a:r>
          </a:p>
        </p:txBody>
      </p:sp>
      <p:sp>
        <p:nvSpPr>
          <p:cNvPr id="3" name="Content Placeholder 2">
            <a:extLst>
              <a:ext uri="{FF2B5EF4-FFF2-40B4-BE49-F238E27FC236}">
                <a16:creationId xmlns:a16="http://schemas.microsoft.com/office/drawing/2014/main" id="{EE66D267-82EB-BBA7-0866-B2D806AD82FE}"/>
              </a:ext>
            </a:extLst>
          </p:cNvPr>
          <p:cNvSpPr>
            <a:spLocks noGrp="1"/>
          </p:cNvSpPr>
          <p:nvPr>
            <p:ph idx="1"/>
          </p:nvPr>
        </p:nvSpPr>
        <p:spPr>
          <a:xfrm>
            <a:off x="1343025" y="857250"/>
            <a:ext cx="6942533" cy="4079081"/>
          </a:xfrm>
        </p:spPr>
        <p:txBody>
          <a:bodyPr>
            <a:normAutofit lnSpcReduction="10000"/>
          </a:bodyPr>
          <a:lstStyle/>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Introduction                                     </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Components</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Circuit Diagram</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Flowchart</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Tools/</a:t>
            </a:r>
            <a:r>
              <a:rPr lang="en-IN" dirty="0" err="1">
                <a:solidFill>
                  <a:schemeClr val="bg1"/>
                </a:solidFill>
                <a:latin typeface="Calibri" panose="020F0502020204030204" pitchFamily="34" charset="0"/>
                <a:ea typeface="Calibri" panose="020F0502020204030204" pitchFamily="34" charset="0"/>
                <a:cs typeface="Calibri" panose="020F0502020204030204" pitchFamily="34" charset="0"/>
              </a:rPr>
              <a:t>Softwares</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 Used</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Algorithm</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Implementation</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Application</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Benefits</a:t>
            </a:r>
          </a:p>
          <a:p>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Conclusion</a:t>
            </a:r>
          </a:p>
          <a:p>
            <a:pPr algn="ctr"/>
            <a:endParaRPr lang="en-IN" dirty="0"/>
          </a:p>
          <a:p>
            <a:pPr algn="ctr"/>
            <a:endParaRPr lang="en-IN" dirty="0"/>
          </a:p>
        </p:txBody>
      </p:sp>
    </p:spTree>
    <p:extLst>
      <p:ext uri="{BB962C8B-B14F-4D97-AF65-F5344CB8AC3E}">
        <p14:creationId xmlns:p14="http://schemas.microsoft.com/office/powerpoint/2010/main" val="29150980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D72B6-8A45-D565-289A-ABEAC009F55D}"/>
              </a:ext>
            </a:extLst>
          </p:cNvPr>
          <p:cNvSpPr>
            <a:spLocks noGrp="1"/>
          </p:cNvSpPr>
          <p:nvPr>
            <p:ph type="title"/>
          </p:nvPr>
        </p:nvSpPr>
        <p:spPr>
          <a:xfrm>
            <a:off x="311700" y="78582"/>
            <a:ext cx="8520600" cy="885825"/>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Autofit/>
          </a:bodyPr>
          <a:lstStyle/>
          <a:p>
            <a:pPr algn="ctr"/>
            <a:r>
              <a:rPr lang="en-IN" sz="4000" dirty="0">
                <a:solidFill>
                  <a:schemeClr val="bg1"/>
                </a:solidFill>
                <a:latin typeface="Arial Black" panose="020B0A04020102020204" pitchFamily="34" charset="0"/>
              </a:rPr>
              <a:t>INTRODUCTION</a:t>
            </a:r>
          </a:p>
        </p:txBody>
      </p:sp>
      <p:sp>
        <p:nvSpPr>
          <p:cNvPr id="3" name="Text Placeholder 2">
            <a:extLst>
              <a:ext uri="{FF2B5EF4-FFF2-40B4-BE49-F238E27FC236}">
                <a16:creationId xmlns:a16="http://schemas.microsoft.com/office/drawing/2014/main" id="{8BEB9C53-AFA8-B248-3CD1-9EFB75B90529}"/>
              </a:ext>
            </a:extLst>
          </p:cNvPr>
          <p:cNvSpPr>
            <a:spLocks noGrp="1"/>
          </p:cNvSpPr>
          <p:nvPr>
            <p:ph type="body" idx="1"/>
          </p:nvPr>
        </p:nvSpPr>
        <p:spPr>
          <a:xfrm>
            <a:off x="311700" y="1171575"/>
            <a:ext cx="8520600" cy="3893343"/>
          </a:xfrm>
        </p:spPr>
        <p:txBody>
          <a:bodyPr>
            <a:normAutofit lnSpcReduction="10000"/>
          </a:bodyPr>
          <a:lstStyle/>
          <a:p>
            <a:pPr>
              <a:buFont typeface="Wingdings" panose="05000000000000000000" pitchFamily="2" charset="2"/>
              <a:buChar char="v"/>
            </a:pPr>
            <a:r>
              <a:rPr lang="en-US" sz="1800" b="1" dirty="0">
                <a:solidFill>
                  <a:schemeClr val="bg1"/>
                </a:solidFill>
                <a:latin typeface="Arial Black" panose="020B0A04020102020204" pitchFamily="34" charset="0"/>
              </a:rPr>
              <a:t>IOT:</a:t>
            </a:r>
            <a:r>
              <a:rPr lang="en-US" sz="1800" dirty="0">
                <a:solidFill>
                  <a:schemeClr val="bg1"/>
                </a:solidFill>
              </a:rPr>
              <a:t>  </a:t>
            </a:r>
            <a:r>
              <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rPr>
              <a:t>The Internet of Things (IoT) describes the network of physical objects—“things”—that are embedded with sensors, software, and other technologies for the purpose of connecting and exchanging data with other devices and systems over the internet. Now that we can connect everyday objects—kitchen appliances, cars, thermostats, baby monitors—to the internet via embedded devices, seamless communication is possible between people, processes, and things. </a:t>
            </a:r>
          </a:p>
          <a:p>
            <a:pPr>
              <a:buFont typeface="Wingdings" panose="05000000000000000000" pitchFamily="2" charset="2"/>
              <a:buChar char="v"/>
            </a:pPr>
            <a:endPar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endParaRPr lang="en-US" sz="1800" dirty="0">
              <a:solidFill>
                <a:schemeClr val="bg1"/>
              </a:solidFill>
            </a:endParaRPr>
          </a:p>
          <a:p>
            <a:pPr>
              <a:buFont typeface="Wingdings" panose="05000000000000000000" pitchFamily="2" charset="2"/>
              <a:buChar char="v"/>
            </a:pPr>
            <a:r>
              <a:rPr lang="en-US" sz="1800" dirty="0">
                <a:solidFill>
                  <a:schemeClr val="bg1"/>
                </a:solidFill>
                <a:latin typeface="Arial Black" panose="020B0A04020102020204" pitchFamily="34" charset="0"/>
              </a:rPr>
              <a:t>IOT Based Weather Monitoring system</a:t>
            </a:r>
            <a:r>
              <a:rPr lang="en-US" sz="1800" dirty="0">
                <a:solidFill>
                  <a:schemeClr val="bg1"/>
                </a:solidFill>
              </a:rPr>
              <a:t> </a:t>
            </a:r>
            <a:r>
              <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rPr>
              <a:t>involves in acquiring weather and environment data using advanced electronic sensors and sending them to a web server via internet for real time weather monitoring and storage of data for future analysis and study. </a:t>
            </a:r>
          </a:p>
          <a:p>
            <a:pPr>
              <a:buFont typeface="Wingdings" panose="05000000000000000000" pitchFamily="2" charset="2"/>
              <a:buChar char="v"/>
            </a:pPr>
            <a:endPar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14300" indent="0">
              <a:buNone/>
            </a:pPr>
            <a:endParaRPr lang="en-US" sz="1400" dirty="0">
              <a:solidFill>
                <a:schemeClr val="bg1"/>
              </a:solidFill>
            </a:endParaRPr>
          </a:p>
          <a:p>
            <a:pPr marL="114300" indent="0">
              <a:buNone/>
            </a:pPr>
            <a:endParaRPr lang="en-US" sz="1400" dirty="0">
              <a:solidFill>
                <a:schemeClr val="bg1"/>
              </a:solidFill>
            </a:endParaRPr>
          </a:p>
          <a:p>
            <a:pPr marL="114300" indent="0">
              <a:buNone/>
            </a:pPr>
            <a:endParaRPr lang="en-US" sz="1400" dirty="0">
              <a:solidFill>
                <a:schemeClr val="bg1"/>
              </a:solidFill>
            </a:endParaRPr>
          </a:p>
        </p:txBody>
      </p:sp>
    </p:spTree>
    <p:extLst>
      <p:ext uri="{BB962C8B-B14F-4D97-AF65-F5344CB8AC3E}">
        <p14:creationId xmlns:p14="http://schemas.microsoft.com/office/powerpoint/2010/main" val="2326344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3A9F6-06BA-D6DE-E4DA-4140E7CE9373}"/>
              </a:ext>
            </a:extLst>
          </p:cNvPr>
          <p:cNvSpPr>
            <a:spLocks noGrp="1"/>
          </p:cNvSpPr>
          <p:nvPr>
            <p:ph type="title"/>
          </p:nvPr>
        </p:nvSpPr>
        <p:spPr>
          <a:xfrm>
            <a:off x="856059" y="92870"/>
            <a:ext cx="7429499" cy="564355"/>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p>
            <a:pPr algn="ctr"/>
            <a:r>
              <a:rPr lang="en-IN" sz="3200" b="1" dirty="0">
                <a:solidFill>
                  <a:schemeClr val="bg1"/>
                </a:solidFill>
                <a:effectLst>
                  <a:outerShdw blurRad="38100" dist="38100" dir="2700000" algn="tl">
                    <a:srgbClr val="000000">
                      <a:alpha val="43137"/>
                    </a:srgbClr>
                  </a:outerShdw>
                </a:effectLst>
                <a:latin typeface="Arial Black" panose="020B0A04020102020204" pitchFamily="34" charset="0"/>
              </a:rPr>
              <a:t>COMPONENTS OF THE SYSTEM</a:t>
            </a:r>
          </a:p>
        </p:txBody>
      </p:sp>
      <p:pic>
        <p:nvPicPr>
          <p:cNvPr id="15" name="Picture Placeholder 14">
            <a:extLst>
              <a:ext uri="{FF2B5EF4-FFF2-40B4-BE49-F238E27FC236}">
                <a16:creationId xmlns:a16="http://schemas.microsoft.com/office/drawing/2014/main" id="{3C049C33-6399-3DA0-C480-47F4F7BD46BC}"/>
              </a:ext>
            </a:extLst>
          </p:cNvPr>
          <p:cNvPicPr>
            <a:picLocks noGrp="1" noChangeAspect="1"/>
          </p:cNvPicPr>
          <p:nvPr>
            <p:ph type="pic" idx="21"/>
          </p:nvPr>
        </p:nvPicPr>
        <p:blipFill rotWithShape="1">
          <a:blip r:embed="rId2"/>
          <a:srcRect t="14263" b="15156"/>
          <a:stretch/>
        </p:blipFill>
        <p:spPr>
          <a:xfrm>
            <a:off x="3538092" y="1244039"/>
            <a:ext cx="2399205" cy="161297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20" name="Picture 19">
            <a:extLst>
              <a:ext uri="{FF2B5EF4-FFF2-40B4-BE49-F238E27FC236}">
                <a16:creationId xmlns:a16="http://schemas.microsoft.com/office/drawing/2014/main" id="{FFDFA809-D0A2-7505-4FF9-2DF57CA5BA84}"/>
              </a:ext>
            </a:extLst>
          </p:cNvPr>
          <p:cNvPicPr>
            <a:picLocks noChangeAspect="1"/>
          </p:cNvPicPr>
          <p:nvPr/>
        </p:nvPicPr>
        <p:blipFill rotWithShape="1">
          <a:blip r:embed="rId3"/>
          <a:srcRect l="17413" t="16436" r="13658" b="15166"/>
          <a:stretch/>
        </p:blipFill>
        <p:spPr>
          <a:xfrm>
            <a:off x="2371725" y="3598803"/>
            <a:ext cx="1643062" cy="1223002"/>
          </a:xfrm>
          <a:prstGeom prst="rect">
            <a:avLst/>
          </a:prstGeom>
        </p:spPr>
      </p:pic>
      <p:pic>
        <p:nvPicPr>
          <p:cNvPr id="21" name="Picture 20">
            <a:extLst>
              <a:ext uri="{FF2B5EF4-FFF2-40B4-BE49-F238E27FC236}">
                <a16:creationId xmlns:a16="http://schemas.microsoft.com/office/drawing/2014/main" id="{6A096768-99CA-30CD-DCF8-D7FBEBA4FA15}"/>
              </a:ext>
            </a:extLst>
          </p:cNvPr>
          <p:cNvPicPr>
            <a:picLocks noChangeAspect="1"/>
          </p:cNvPicPr>
          <p:nvPr/>
        </p:nvPicPr>
        <p:blipFill rotWithShape="1">
          <a:blip r:embed="rId4"/>
          <a:srcRect l="15869" t="19648" r="16514" b="19764"/>
          <a:stretch/>
        </p:blipFill>
        <p:spPr>
          <a:xfrm>
            <a:off x="5680653" y="3628043"/>
            <a:ext cx="1756814" cy="1223002"/>
          </a:xfrm>
          <a:prstGeom prst="rect">
            <a:avLst/>
          </a:prstGeom>
        </p:spPr>
      </p:pic>
      <p:sp>
        <p:nvSpPr>
          <p:cNvPr id="28" name="TextBox 27">
            <a:extLst>
              <a:ext uri="{FF2B5EF4-FFF2-40B4-BE49-F238E27FC236}">
                <a16:creationId xmlns:a16="http://schemas.microsoft.com/office/drawing/2014/main" id="{C25AD089-B1EF-DCA5-C3C4-768EBA91C0CE}"/>
              </a:ext>
            </a:extLst>
          </p:cNvPr>
          <p:cNvSpPr txBox="1"/>
          <p:nvPr/>
        </p:nvSpPr>
        <p:spPr>
          <a:xfrm>
            <a:off x="3423244" y="627689"/>
            <a:ext cx="2628900" cy="461665"/>
          </a:xfrm>
          <a:prstGeom prst="rect">
            <a:avLst/>
          </a:prstGeom>
          <a:noFill/>
        </p:spPr>
        <p:txBody>
          <a:bodyPr wrap="square" rtlCol="0">
            <a:spAutoFit/>
          </a:bodyPr>
          <a:lstStyle/>
          <a:p>
            <a:pPr algn="ctr"/>
            <a:r>
              <a:rPr lang="en-IN" sz="1200" dirty="0" err="1">
                <a:solidFill>
                  <a:schemeClr val="bg1"/>
                </a:solidFill>
                <a:latin typeface="Arial Black" panose="020B0A04020102020204" pitchFamily="34" charset="0"/>
              </a:rPr>
              <a:t>NodeMCU</a:t>
            </a:r>
            <a:r>
              <a:rPr lang="en-IN" sz="1200" dirty="0">
                <a:solidFill>
                  <a:schemeClr val="bg1"/>
                </a:solidFill>
                <a:latin typeface="Arial Black" panose="020B0A04020102020204" pitchFamily="34" charset="0"/>
              </a:rPr>
              <a:t> ESP8266 </a:t>
            </a:r>
            <a:r>
              <a:rPr lang="en-IN" sz="1200" dirty="0" err="1">
                <a:solidFill>
                  <a:schemeClr val="bg1"/>
                </a:solidFill>
                <a:latin typeface="Arial Black" panose="020B0A04020102020204" pitchFamily="34" charset="0"/>
              </a:rPr>
              <a:t>WiFi</a:t>
            </a:r>
            <a:r>
              <a:rPr lang="en-IN" sz="1200" dirty="0">
                <a:solidFill>
                  <a:schemeClr val="bg1"/>
                </a:solidFill>
                <a:latin typeface="Arial Black" panose="020B0A04020102020204" pitchFamily="34" charset="0"/>
              </a:rPr>
              <a:t> Module</a:t>
            </a:r>
          </a:p>
        </p:txBody>
      </p:sp>
      <p:sp>
        <p:nvSpPr>
          <p:cNvPr id="29" name="TextBox 28">
            <a:extLst>
              <a:ext uri="{FF2B5EF4-FFF2-40B4-BE49-F238E27FC236}">
                <a16:creationId xmlns:a16="http://schemas.microsoft.com/office/drawing/2014/main" id="{4F6BDE51-1638-ADE3-E209-0496287D7775}"/>
              </a:ext>
            </a:extLst>
          </p:cNvPr>
          <p:cNvSpPr txBox="1"/>
          <p:nvPr/>
        </p:nvSpPr>
        <p:spPr>
          <a:xfrm>
            <a:off x="2359789" y="2980065"/>
            <a:ext cx="1643062" cy="646331"/>
          </a:xfrm>
          <a:prstGeom prst="rect">
            <a:avLst/>
          </a:prstGeom>
          <a:noFill/>
        </p:spPr>
        <p:txBody>
          <a:bodyPr wrap="square" rtlCol="0">
            <a:spAutoFit/>
          </a:bodyPr>
          <a:lstStyle/>
          <a:p>
            <a:pPr algn="ctr"/>
            <a:r>
              <a:rPr lang="en-IN" sz="1200" dirty="0">
                <a:solidFill>
                  <a:schemeClr val="bg1"/>
                </a:solidFill>
                <a:latin typeface="Arial Black" panose="020B0A04020102020204" pitchFamily="34" charset="0"/>
              </a:rPr>
              <a:t>DHT11 Temperature And Humidity Sensor</a:t>
            </a:r>
          </a:p>
        </p:txBody>
      </p:sp>
      <p:sp>
        <p:nvSpPr>
          <p:cNvPr id="31" name="TextBox 30">
            <a:extLst>
              <a:ext uri="{FF2B5EF4-FFF2-40B4-BE49-F238E27FC236}">
                <a16:creationId xmlns:a16="http://schemas.microsoft.com/office/drawing/2014/main" id="{82EC8EC2-E112-682B-219D-CC2EC4D035B0}"/>
              </a:ext>
            </a:extLst>
          </p:cNvPr>
          <p:cNvSpPr txBox="1"/>
          <p:nvPr/>
        </p:nvSpPr>
        <p:spPr>
          <a:xfrm>
            <a:off x="5668717" y="3166378"/>
            <a:ext cx="1756814" cy="461665"/>
          </a:xfrm>
          <a:prstGeom prst="rect">
            <a:avLst/>
          </a:prstGeom>
          <a:noFill/>
        </p:spPr>
        <p:txBody>
          <a:bodyPr wrap="square" rtlCol="0">
            <a:spAutoFit/>
          </a:bodyPr>
          <a:lstStyle/>
          <a:p>
            <a:pPr algn="ctr"/>
            <a:r>
              <a:rPr lang="en-IN" sz="1200" dirty="0">
                <a:solidFill>
                  <a:schemeClr val="bg1"/>
                </a:solidFill>
                <a:latin typeface="Arial Black" panose="020B0A04020102020204" pitchFamily="34" charset="0"/>
                <a:ea typeface="Calibri" panose="020F0502020204030204" pitchFamily="34" charset="0"/>
                <a:cs typeface="Calibri" panose="020F0502020204030204" pitchFamily="34" charset="0"/>
              </a:rPr>
              <a:t>MQ-135 sensor air quality sensor.</a:t>
            </a:r>
          </a:p>
        </p:txBody>
      </p:sp>
    </p:spTree>
    <p:extLst>
      <p:ext uri="{BB962C8B-B14F-4D97-AF65-F5344CB8AC3E}">
        <p14:creationId xmlns:p14="http://schemas.microsoft.com/office/powerpoint/2010/main" val="8190545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48D6A5-412B-3643-19DF-65E9187A77A2}"/>
              </a:ext>
            </a:extLst>
          </p:cNvPr>
          <p:cNvSpPr/>
          <p:nvPr/>
        </p:nvSpPr>
        <p:spPr>
          <a:xfrm>
            <a:off x="3543300" y="1064419"/>
            <a:ext cx="1764506" cy="337899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IN" sz="2000" dirty="0" err="1">
                <a:solidFill>
                  <a:schemeClr val="tx1"/>
                </a:solidFill>
                <a:latin typeface="Arial Black" panose="020B0A04020102020204" pitchFamily="34" charset="0"/>
              </a:rPr>
              <a:t>NodeMCU</a:t>
            </a:r>
            <a:r>
              <a:rPr lang="en-IN" sz="2000" dirty="0">
                <a:solidFill>
                  <a:schemeClr val="tx1"/>
                </a:solidFill>
                <a:latin typeface="Arial Black" panose="020B0A04020102020204" pitchFamily="34" charset="0"/>
              </a:rPr>
              <a:t> ESP8266 </a:t>
            </a:r>
            <a:r>
              <a:rPr lang="en-IN" sz="2000" dirty="0" err="1">
                <a:solidFill>
                  <a:schemeClr val="tx1"/>
                </a:solidFill>
                <a:latin typeface="Arial Black" panose="020B0A04020102020204" pitchFamily="34" charset="0"/>
              </a:rPr>
              <a:t>WiFi</a:t>
            </a:r>
            <a:r>
              <a:rPr lang="en-IN" sz="2000" dirty="0">
                <a:solidFill>
                  <a:schemeClr val="tx1"/>
                </a:solidFill>
                <a:latin typeface="Arial Black" panose="020B0A04020102020204" pitchFamily="34" charset="0"/>
              </a:rPr>
              <a:t> Module</a:t>
            </a:r>
          </a:p>
        </p:txBody>
      </p:sp>
      <p:sp>
        <p:nvSpPr>
          <p:cNvPr id="6" name="Rectangle 5">
            <a:extLst>
              <a:ext uri="{FF2B5EF4-FFF2-40B4-BE49-F238E27FC236}">
                <a16:creationId xmlns:a16="http://schemas.microsoft.com/office/drawing/2014/main" id="{2D7A5288-EE26-7A0A-E274-868332B36079}"/>
              </a:ext>
            </a:extLst>
          </p:cNvPr>
          <p:cNvSpPr/>
          <p:nvPr/>
        </p:nvSpPr>
        <p:spPr>
          <a:xfrm>
            <a:off x="1035843" y="1358919"/>
            <a:ext cx="1821657" cy="86439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IN" sz="1400" dirty="0">
                <a:solidFill>
                  <a:schemeClr val="tx1"/>
                </a:solidFill>
                <a:latin typeface="Arial Black" panose="020B0A04020102020204" pitchFamily="34" charset="0"/>
              </a:rPr>
              <a:t>DHT11 Temperature and Humidity Sensor</a:t>
            </a:r>
          </a:p>
        </p:txBody>
      </p:sp>
      <p:sp>
        <p:nvSpPr>
          <p:cNvPr id="7" name="Rectangle 6">
            <a:extLst>
              <a:ext uri="{FF2B5EF4-FFF2-40B4-BE49-F238E27FC236}">
                <a16:creationId xmlns:a16="http://schemas.microsoft.com/office/drawing/2014/main" id="{185376E2-E310-7B66-1853-75ACB8D06D46}"/>
              </a:ext>
            </a:extLst>
          </p:cNvPr>
          <p:cNvSpPr/>
          <p:nvPr/>
        </p:nvSpPr>
        <p:spPr>
          <a:xfrm>
            <a:off x="1035843" y="3063725"/>
            <a:ext cx="1821657" cy="86439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IN" dirty="0">
                <a:solidFill>
                  <a:schemeClr val="tx1"/>
                </a:solidFill>
                <a:latin typeface="Arial Black" panose="020B0A04020102020204" pitchFamily="34" charset="0"/>
              </a:rPr>
              <a:t>MQ-135 Air Quality Sensor</a:t>
            </a:r>
          </a:p>
        </p:txBody>
      </p:sp>
      <p:sp>
        <p:nvSpPr>
          <p:cNvPr id="13" name="Arrow: Right 12">
            <a:extLst>
              <a:ext uri="{FF2B5EF4-FFF2-40B4-BE49-F238E27FC236}">
                <a16:creationId xmlns:a16="http://schemas.microsoft.com/office/drawing/2014/main" id="{0412CFFA-D785-0CF1-707D-EAA660A102AA}"/>
              </a:ext>
            </a:extLst>
          </p:cNvPr>
          <p:cNvSpPr/>
          <p:nvPr/>
        </p:nvSpPr>
        <p:spPr>
          <a:xfrm>
            <a:off x="2870295" y="1636553"/>
            <a:ext cx="685800" cy="335041"/>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7E68C184-7884-0FF3-AD43-9BDE39D22645}"/>
              </a:ext>
            </a:extLst>
          </p:cNvPr>
          <p:cNvPicPr>
            <a:picLocks noChangeAspect="1"/>
          </p:cNvPicPr>
          <p:nvPr/>
        </p:nvPicPr>
        <p:blipFill>
          <a:blip r:embed="rId2"/>
          <a:stretch>
            <a:fillRect/>
          </a:stretch>
        </p:blipFill>
        <p:spPr>
          <a:xfrm>
            <a:off x="2895886" y="3297785"/>
            <a:ext cx="660209" cy="396274"/>
          </a:xfrm>
          <a:prstGeom prst="rect">
            <a:avLst/>
          </a:prstGeom>
        </p:spPr>
      </p:pic>
      <p:sp>
        <p:nvSpPr>
          <p:cNvPr id="16" name="Cloud 15">
            <a:extLst>
              <a:ext uri="{FF2B5EF4-FFF2-40B4-BE49-F238E27FC236}">
                <a16:creationId xmlns:a16="http://schemas.microsoft.com/office/drawing/2014/main" id="{2E954033-2E9F-7E20-FCA1-8D3B2981008D}"/>
              </a:ext>
            </a:extLst>
          </p:cNvPr>
          <p:cNvSpPr/>
          <p:nvPr/>
        </p:nvSpPr>
        <p:spPr>
          <a:xfrm>
            <a:off x="6229351" y="1496616"/>
            <a:ext cx="1878806" cy="942975"/>
          </a:xfrm>
          <a:prstGeom prst="cloud">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IN" sz="1400" dirty="0">
                <a:solidFill>
                  <a:schemeClr val="tx1"/>
                </a:solidFill>
                <a:latin typeface="Arial Black" panose="020B0A04020102020204" pitchFamily="34" charset="0"/>
              </a:rPr>
              <a:t>Arduino IOT CLOUD</a:t>
            </a:r>
          </a:p>
        </p:txBody>
      </p:sp>
      <p:sp>
        <p:nvSpPr>
          <p:cNvPr id="17" name="Arrow: Right 16">
            <a:extLst>
              <a:ext uri="{FF2B5EF4-FFF2-40B4-BE49-F238E27FC236}">
                <a16:creationId xmlns:a16="http://schemas.microsoft.com/office/drawing/2014/main" id="{B3DFFF0A-19D2-5ECB-E557-1FE9AE479F25}"/>
              </a:ext>
            </a:extLst>
          </p:cNvPr>
          <p:cNvSpPr/>
          <p:nvPr/>
        </p:nvSpPr>
        <p:spPr>
          <a:xfrm>
            <a:off x="5307806" y="1878807"/>
            <a:ext cx="985838" cy="364332"/>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C5A1D268-BCBE-C0E8-DC9F-C532E6C2DD90}"/>
              </a:ext>
            </a:extLst>
          </p:cNvPr>
          <p:cNvSpPr/>
          <p:nvPr/>
        </p:nvSpPr>
        <p:spPr>
          <a:xfrm>
            <a:off x="6500813" y="3186113"/>
            <a:ext cx="1607344" cy="694831"/>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IN" dirty="0">
                <a:latin typeface="Arial Black" panose="020B0A04020102020204" pitchFamily="34" charset="0"/>
              </a:rPr>
              <a:t>Dashboard</a:t>
            </a:r>
          </a:p>
        </p:txBody>
      </p:sp>
      <p:sp>
        <p:nvSpPr>
          <p:cNvPr id="19" name="Arrow: Down 18">
            <a:extLst>
              <a:ext uri="{FF2B5EF4-FFF2-40B4-BE49-F238E27FC236}">
                <a16:creationId xmlns:a16="http://schemas.microsoft.com/office/drawing/2014/main" id="{D8BD597C-4702-4F85-8D00-B8ED404127C4}"/>
              </a:ext>
            </a:extLst>
          </p:cNvPr>
          <p:cNvSpPr/>
          <p:nvPr/>
        </p:nvSpPr>
        <p:spPr>
          <a:xfrm>
            <a:off x="7050882" y="2439591"/>
            <a:ext cx="335756" cy="746522"/>
          </a:xfrm>
          <a:prstGeom prst="down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03B4E3C7-C748-502E-886C-B9B2CC9F2C1C}"/>
              </a:ext>
            </a:extLst>
          </p:cNvPr>
          <p:cNvSpPr txBox="1"/>
          <p:nvPr/>
        </p:nvSpPr>
        <p:spPr>
          <a:xfrm>
            <a:off x="2371725" y="142875"/>
            <a:ext cx="4129088" cy="52322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pPr algn="ctr"/>
            <a:r>
              <a:rPr lang="en-IN" sz="2800" b="1" dirty="0">
                <a:solidFill>
                  <a:schemeClr val="bg1"/>
                </a:solidFill>
                <a:effectLst>
                  <a:outerShdw blurRad="38100" dist="38100" dir="2700000" algn="tl">
                    <a:srgbClr val="000000">
                      <a:alpha val="43137"/>
                    </a:srgbClr>
                  </a:outerShdw>
                </a:effectLst>
                <a:latin typeface="Arial Black" panose="020B0A04020102020204" pitchFamily="34" charset="0"/>
              </a:rPr>
              <a:t>BLOCK DIAGRAM</a:t>
            </a:r>
          </a:p>
        </p:txBody>
      </p:sp>
    </p:spTree>
    <p:extLst>
      <p:ext uri="{BB962C8B-B14F-4D97-AF65-F5344CB8AC3E}">
        <p14:creationId xmlns:p14="http://schemas.microsoft.com/office/powerpoint/2010/main" val="7901856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p:nvPr/>
        </p:nvSpPr>
        <p:spPr>
          <a:xfrm>
            <a:off x="408938" y="0"/>
            <a:ext cx="8354700" cy="797719"/>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IN" sz="4000" b="1" dirty="0">
                <a:solidFill>
                  <a:schemeClr val="bg1"/>
                </a:solidFill>
                <a:effectLst>
                  <a:outerShdw blurRad="38100" dist="38100" dir="2700000" algn="tl">
                    <a:srgbClr val="000000">
                      <a:alpha val="43137"/>
                    </a:srgbClr>
                  </a:outerShdw>
                </a:effectLst>
                <a:latin typeface="Arial Black" panose="020B0A04020102020204" pitchFamily="34" charset="0"/>
              </a:rPr>
              <a:t>CIRCUIT DIAGRAM</a:t>
            </a:r>
            <a:endParaRPr sz="4000" b="1" dirty="0">
              <a:solidFill>
                <a:schemeClr val="bg1"/>
              </a:solidFill>
              <a:effectLst>
                <a:outerShdw blurRad="38100" dist="38100" dir="2700000" algn="tl">
                  <a:srgbClr val="000000">
                    <a:alpha val="43137"/>
                  </a:srgbClr>
                </a:outerShdw>
              </a:effectLst>
              <a:latin typeface="Arial Black" panose="020B0A04020102020204" pitchFamily="34" charset="0"/>
            </a:endParaRPr>
          </a:p>
        </p:txBody>
      </p:sp>
      <p:pic>
        <p:nvPicPr>
          <p:cNvPr id="8" name="Picture 7">
            <a:extLst>
              <a:ext uri="{FF2B5EF4-FFF2-40B4-BE49-F238E27FC236}">
                <a16:creationId xmlns:a16="http://schemas.microsoft.com/office/drawing/2014/main" id="{6A5C8F6D-A1BC-B031-7741-725804187710}"/>
              </a:ext>
            </a:extLst>
          </p:cNvPr>
          <p:cNvPicPr>
            <a:picLocks noChangeAspect="1"/>
          </p:cNvPicPr>
          <p:nvPr/>
        </p:nvPicPr>
        <p:blipFill rotWithShape="1">
          <a:blip r:embed="rId3"/>
          <a:srcRect r="5380" b="7425"/>
          <a:stretch/>
        </p:blipFill>
        <p:spPr>
          <a:xfrm>
            <a:off x="1207295" y="797719"/>
            <a:ext cx="6800850" cy="4038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B49BF-734D-F405-FC52-F8EFFA99EEE8}"/>
              </a:ext>
            </a:extLst>
          </p:cNvPr>
          <p:cNvSpPr>
            <a:spLocks noGrp="1"/>
          </p:cNvSpPr>
          <p:nvPr>
            <p:ph type="title"/>
          </p:nvPr>
        </p:nvSpPr>
        <p:spPr>
          <a:xfrm>
            <a:off x="521494" y="157164"/>
            <a:ext cx="8208169" cy="1028700"/>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p>
            <a:pPr algn="ctr"/>
            <a:r>
              <a:rPr lang="en-IN" sz="2800" dirty="0">
                <a:solidFill>
                  <a:schemeClr val="bg1"/>
                </a:solidFill>
                <a:effectLst>
                  <a:outerShdw blurRad="38100" dist="38100" dir="2700000" algn="tl">
                    <a:srgbClr val="000000">
                      <a:alpha val="43137"/>
                    </a:srgbClr>
                  </a:outerShdw>
                </a:effectLst>
                <a:latin typeface="Arial Black" panose="020B0A04020102020204" pitchFamily="34" charset="0"/>
              </a:rPr>
              <a:t>TOOLS/SOFTWARES, LANGUAGES USED</a:t>
            </a:r>
          </a:p>
        </p:txBody>
      </p:sp>
      <p:pic>
        <p:nvPicPr>
          <p:cNvPr id="8" name="Picture 7">
            <a:extLst>
              <a:ext uri="{FF2B5EF4-FFF2-40B4-BE49-F238E27FC236}">
                <a16:creationId xmlns:a16="http://schemas.microsoft.com/office/drawing/2014/main" id="{14E5EC44-7647-C876-B05B-16D28CAE3F3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022175" y="1696725"/>
            <a:ext cx="2778300" cy="1750110"/>
          </a:xfrm>
          <a:prstGeom prst="rect">
            <a:avLst/>
          </a:prstGeom>
        </p:spPr>
      </p:pic>
      <p:sp>
        <p:nvSpPr>
          <p:cNvPr id="9" name="Rectangle 8">
            <a:extLst>
              <a:ext uri="{FF2B5EF4-FFF2-40B4-BE49-F238E27FC236}">
                <a16:creationId xmlns:a16="http://schemas.microsoft.com/office/drawing/2014/main" id="{94DCD8AA-D8C4-2149-4C41-9078BC2D8370}"/>
              </a:ext>
            </a:extLst>
          </p:cNvPr>
          <p:cNvSpPr/>
          <p:nvPr/>
        </p:nvSpPr>
        <p:spPr>
          <a:xfrm>
            <a:off x="1093303" y="2861941"/>
            <a:ext cx="2636043" cy="557213"/>
          </a:xfrm>
          <a:prstGeom prst="rect">
            <a:avLst/>
          </a:prstGeom>
          <a:no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en-IN">
              <a:solidFill>
                <a:schemeClr val="bg1"/>
              </a:solidFill>
            </a:endParaRPr>
          </a:p>
        </p:txBody>
      </p:sp>
      <p:sp>
        <p:nvSpPr>
          <p:cNvPr id="11" name="TextBox 10">
            <a:extLst>
              <a:ext uri="{FF2B5EF4-FFF2-40B4-BE49-F238E27FC236}">
                <a16:creationId xmlns:a16="http://schemas.microsoft.com/office/drawing/2014/main" id="{E8991927-5C30-1633-A5D1-D7E4F586C617}"/>
              </a:ext>
            </a:extLst>
          </p:cNvPr>
          <p:cNvSpPr txBox="1"/>
          <p:nvPr/>
        </p:nvSpPr>
        <p:spPr>
          <a:xfrm>
            <a:off x="1022175" y="3419154"/>
            <a:ext cx="2778300" cy="400110"/>
          </a:xfrm>
          <a:prstGeom prst="rect">
            <a:avLst/>
          </a:prstGeom>
          <a:noFill/>
        </p:spPr>
        <p:txBody>
          <a:bodyPr wrap="square" rtlCol="0">
            <a:spAutoFit/>
          </a:bodyPr>
          <a:lstStyle/>
          <a:p>
            <a:pPr algn="ctr"/>
            <a:r>
              <a:rPr lang="en-IN" sz="2000" b="1" u="sng" dirty="0"/>
              <a:t>ARDUINO IOT CLOUD</a:t>
            </a:r>
          </a:p>
        </p:txBody>
      </p:sp>
      <p:pic>
        <p:nvPicPr>
          <p:cNvPr id="13" name="Picture 12">
            <a:extLst>
              <a:ext uri="{FF2B5EF4-FFF2-40B4-BE49-F238E27FC236}">
                <a16:creationId xmlns:a16="http://schemas.microsoft.com/office/drawing/2014/main" id="{8EA2E95F-A520-F482-2906-5D69323F8AF6}"/>
              </a:ext>
            </a:extLst>
          </p:cNvPr>
          <p:cNvPicPr>
            <a:picLocks noChangeAspect="1"/>
          </p:cNvPicPr>
          <p:nvPr/>
        </p:nvPicPr>
        <p:blipFill>
          <a:blip r:embed="rId3">
            <a:clrChange>
              <a:clrFrom>
                <a:srgbClr val="F5F5F5"/>
              </a:clrFrom>
              <a:clrTo>
                <a:srgbClr val="F5F5F5">
                  <a:alpha val="0"/>
                </a:srgbClr>
              </a:clrTo>
            </a:clrChange>
          </a:blip>
          <a:stretch>
            <a:fillRect/>
          </a:stretch>
        </p:blipFill>
        <p:spPr>
          <a:xfrm>
            <a:off x="5082406" y="1745514"/>
            <a:ext cx="3093988" cy="2232853"/>
          </a:xfrm>
          <a:prstGeom prst="rect">
            <a:avLst/>
          </a:prstGeom>
        </p:spPr>
      </p:pic>
    </p:spTree>
    <p:extLst>
      <p:ext uri="{BB962C8B-B14F-4D97-AF65-F5344CB8AC3E}">
        <p14:creationId xmlns:p14="http://schemas.microsoft.com/office/powerpoint/2010/main" val="4704245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14C5C-B210-F54E-96AA-E1B77DC5D8DF}"/>
              </a:ext>
            </a:extLst>
          </p:cNvPr>
          <p:cNvSpPr>
            <a:spLocks noGrp="1"/>
          </p:cNvSpPr>
          <p:nvPr>
            <p:ph type="title"/>
          </p:nvPr>
        </p:nvSpPr>
        <p:spPr>
          <a:xfrm>
            <a:off x="404569" y="66405"/>
            <a:ext cx="8520600" cy="572700"/>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Autofit/>
          </a:bodyPr>
          <a:lstStyle/>
          <a:p>
            <a:pPr algn="ctr"/>
            <a:r>
              <a:rPr lang="en-US" sz="4000" b="1" dirty="0">
                <a:solidFill>
                  <a:schemeClr val="bg1"/>
                </a:solidFill>
                <a:effectLst>
                  <a:outerShdw blurRad="38100" dist="38100" dir="2700000" algn="tl">
                    <a:srgbClr val="000000">
                      <a:alpha val="43137"/>
                    </a:srgbClr>
                  </a:outerShdw>
                </a:effectLst>
                <a:latin typeface="Arial Black" panose="020B0A04020102020204" pitchFamily="34" charset="0"/>
              </a:rPr>
              <a:t>ALGORITHM</a:t>
            </a:r>
            <a:endParaRPr lang="en-IN" sz="4000" b="1" dirty="0">
              <a:solidFill>
                <a:schemeClr val="bg1"/>
              </a:solidFill>
              <a:effectLst>
                <a:outerShdw blurRad="38100" dist="38100" dir="2700000" algn="tl">
                  <a:srgbClr val="000000">
                    <a:alpha val="43137"/>
                  </a:srgbClr>
                </a:outerShdw>
              </a:effectLst>
              <a:latin typeface="Arial Black" panose="020B0A04020102020204" pitchFamily="34" charset="0"/>
            </a:endParaRPr>
          </a:p>
        </p:txBody>
      </p:sp>
      <p:sp>
        <p:nvSpPr>
          <p:cNvPr id="3" name="Text Placeholder 2">
            <a:extLst>
              <a:ext uri="{FF2B5EF4-FFF2-40B4-BE49-F238E27FC236}">
                <a16:creationId xmlns:a16="http://schemas.microsoft.com/office/drawing/2014/main" id="{CAF46F3F-4957-8B00-57BB-20513763B591}"/>
              </a:ext>
            </a:extLst>
          </p:cNvPr>
          <p:cNvSpPr>
            <a:spLocks noGrp="1"/>
          </p:cNvSpPr>
          <p:nvPr>
            <p:ph type="body" idx="1"/>
          </p:nvPr>
        </p:nvSpPr>
        <p:spPr>
          <a:xfrm>
            <a:off x="404569" y="728372"/>
            <a:ext cx="8520600" cy="4234132"/>
          </a:xfrm>
        </p:spPr>
        <p:txBody>
          <a:bodyPr>
            <a:noAutofit/>
          </a:bodyPr>
          <a:lstStyle/>
          <a:p>
            <a:pPr marL="228600" lvl="0" indent="-228600">
              <a:lnSpc>
                <a:spcPct val="107000"/>
              </a:lnSpc>
              <a:spcAft>
                <a:spcPts val="800"/>
              </a:spcAft>
              <a:buFont typeface="+mj-lt"/>
              <a:buAutoNum type="arabicPeriod"/>
              <a:tabLst>
                <a:tab pos="457200" algn="l"/>
              </a:tabLst>
            </a:pPr>
            <a:r>
              <a:rPr lang="en-US" sz="1600" b="1" i="0" u="sng" dirty="0">
                <a:solidFill>
                  <a:schemeClr val="bg1"/>
                </a:solidFill>
                <a:effectLst/>
                <a:latin typeface="Calibri" panose="020F0502020204030204" pitchFamily="34" charset="0"/>
                <a:ea typeface="Calibri" panose="020F0502020204030204" pitchFamily="34" charset="0"/>
                <a:cs typeface="Calibri" panose="020F0502020204030204" pitchFamily="34" charset="0"/>
              </a:rPr>
              <a:t>Include Necessary Libraries and Define Pin Configurations:</a:t>
            </a:r>
          </a:p>
          <a:p>
            <a:pPr marL="285750" indent="-285750">
              <a:lnSpc>
                <a:spcPct val="107000"/>
              </a:lnSpc>
              <a:spcAft>
                <a:spcPts val="800"/>
              </a:spcAft>
              <a:buFont typeface="Arial" panose="020B0604020202020204" pitchFamily="34" charset="0"/>
              <a:buChar char="•"/>
              <a:tabLst>
                <a:tab pos="457200" algn="l"/>
              </a:tabLst>
            </a:pPr>
            <a:r>
              <a:rPr lang="en-US" sz="1400" b="1"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IN" sz="1400"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Include necessary libraries, "</a:t>
            </a:r>
            <a:r>
              <a:rPr lang="en-IN" sz="1400" kern="0" dirty="0" err="1">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thingProperties.h</a:t>
            </a:r>
            <a:r>
              <a:rPr lang="en-IN" sz="1400"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for IoT Cloud communication and "</a:t>
            </a:r>
            <a:r>
              <a:rPr lang="en-IN" sz="1400" kern="0" dirty="0" err="1">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DHT.h</a:t>
            </a:r>
            <a:r>
              <a:rPr lang="en-IN" sz="1400"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for the DHT                             sensor.</a:t>
            </a:r>
            <a:endParaRPr lang="en-IN" sz="1400"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07000"/>
              </a:lnSpc>
              <a:spcAft>
                <a:spcPts val="800"/>
              </a:spcAft>
              <a:buFont typeface="Arial" panose="020B0604020202020204" pitchFamily="34" charset="0"/>
              <a:buChar char="•"/>
              <a:tabLst>
                <a:tab pos="457200" algn="l"/>
              </a:tabLst>
            </a:pPr>
            <a:r>
              <a:rPr lang="en-IN" sz="1400" b="0" i="0"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sz="1400" b="0" i="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Define the pin configuration for the DHT sensor and the gas sensor</a:t>
            </a:r>
            <a:r>
              <a:rPr lang="en-IN" sz="1400"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pPr marL="285750" indent="-285750">
              <a:lnSpc>
                <a:spcPct val="107000"/>
              </a:lnSpc>
              <a:spcAft>
                <a:spcPts val="800"/>
              </a:spcAft>
              <a:buFont typeface="Arial" panose="020B0604020202020204" pitchFamily="34" charset="0"/>
              <a:buChar char="•"/>
              <a:tabLst>
                <a:tab pos="457200" algn="l"/>
              </a:tabLst>
            </a:pPr>
            <a:r>
              <a:rPr lang="en-US" sz="1400" b="0" i="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Declare variables for the DHT sensor, gas sensor, and IoT Cloud variables.</a:t>
            </a:r>
          </a:p>
          <a:p>
            <a:pPr marL="285750" indent="-285750">
              <a:lnSpc>
                <a:spcPct val="107000"/>
              </a:lnSpc>
              <a:spcAft>
                <a:spcPts val="800"/>
              </a:spcAft>
              <a:buFont typeface="Arial" panose="020B0604020202020204" pitchFamily="34" charset="0"/>
              <a:buChar char="•"/>
              <a:tabLst>
                <a:tab pos="457200" algn="l"/>
              </a:tabLst>
            </a:pPr>
            <a:r>
              <a:rPr lang="en-US" sz="1400"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sz="1400" b="0" i="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Initialize the DHT sensor and gas sensor pins.</a:t>
            </a:r>
            <a:endParaRPr lang="en-IN" sz="1400"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07000"/>
              </a:lnSpc>
              <a:spcAft>
                <a:spcPts val="800"/>
              </a:spcAft>
              <a:buNone/>
              <a:tabLst>
                <a:tab pos="457200" algn="l"/>
              </a:tabLst>
            </a:pPr>
            <a:r>
              <a:rPr lang="en-IN" sz="1600"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2.</a:t>
            </a:r>
            <a:r>
              <a:rPr lang="en-IN" sz="1400"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IN" sz="1600" b="1" i="0" u="sng" dirty="0">
                <a:solidFill>
                  <a:schemeClr val="bg1"/>
                </a:solidFill>
                <a:effectLst/>
                <a:latin typeface="Calibri" panose="020F0502020204030204" pitchFamily="34" charset="0"/>
                <a:ea typeface="Calibri" panose="020F0502020204030204" pitchFamily="34" charset="0"/>
                <a:cs typeface="Calibri" panose="020F0502020204030204" pitchFamily="34" charset="0"/>
              </a:rPr>
              <a:t>Setup Function: </a:t>
            </a:r>
          </a:p>
          <a:p>
            <a:pPr marL="285750" indent="-285750">
              <a:lnSpc>
                <a:spcPct val="107000"/>
              </a:lnSpc>
              <a:spcAft>
                <a:spcPts val="800"/>
              </a:spcAft>
              <a:buFont typeface="Arial" panose="020B0604020202020204" pitchFamily="34" charset="0"/>
              <a:buChar char="•"/>
              <a:tabLst>
                <a:tab pos="457200" algn="l"/>
              </a:tabLst>
            </a:pPr>
            <a:r>
              <a:rPr lang="en-IN" sz="1400" b="0" i="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Initialize the serial communication.</a:t>
            </a:r>
            <a:endParaRPr lang="en-IN" sz="1400" b="1" u="sng"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07000"/>
              </a:lnSpc>
              <a:spcAft>
                <a:spcPts val="800"/>
              </a:spcAft>
              <a:buFont typeface="Arial" panose="020B0604020202020204" pitchFamily="34" charset="0"/>
              <a:buChar char="•"/>
              <a:tabLst>
                <a:tab pos="457200" algn="l"/>
              </a:tabLst>
            </a:pPr>
            <a:r>
              <a:rPr lang="en-US" sz="1400" b="0" i="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Set a delay for the serial monitor to open</a:t>
            </a:r>
            <a:endParaRPr lang="en-IN" sz="1400" b="1" i="0" u="sng"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07000"/>
              </a:lnSpc>
              <a:spcAft>
                <a:spcPts val="800"/>
              </a:spcAft>
              <a:buFont typeface="Arial" panose="020B0604020202020204" pitchFamily="34" charset="0"/>
              <a:buChar char="•"/>
              <a:tabLst>
                <a:tab pos="457200" algn="l"/>
              </a:tabLst>
            </a:pPr>
            <a:r>
              <a:rPr lang="en-US" sz="1400" b="0" i="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Set the gas sensor pin as an input.</a:t>
            </a:r>
            <a:endParaRPr lang="en-IN" sz="1400" b="1" u="sng"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07000"/>
              </a:lnSpc>
              <a:spcAft>
                <a:spcPts val="800"/>
              </a:spcAft>
              <a:buFont typeface="Arial" panose="020B0604020202020204" pitchFamily="34" charset="0"/>
              <a:buChar char="•"/>
              <a:tabLst>
                <a:tab pos="457200" algn="l"/>
              </a:tabLst>
            </a:pPr>
            <a:r>
              <a:rPr lang="en-US" sz="1400" b="0" i="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Initialize the IoT Cloud properties.</a:t>
            </a:r>
          </a:p>
          <a:p>
            <a:pPr marL="285750" indent="-285750">
              <a:lnSpc>
                <a:spcPct val="107000"/>
              </a:lnSpc>
              <a:spcAft>
                <a:spcPts val="800"/>
              </a:spcAft>
              <a:buFont typeface="Arial" panose="020B0604020202020204" pitchFamily="34" charset="0"/>
              <a:buChar char="•"/>
              <a:tabLst>
                <a:tab pos="457200" algn="l"/>
              </a:tabLst>
            </a:pPr>
            <a:r>
              <a:rPr lang="en-US" sz="1400" b="0" i="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Begin the connection to the Arduino IoT Cloud.</a:t>
            </a:r>
          </a:p>
          <a:p>
            <a:pPr marL="285750" indent="-285750">
              <a:lnSpc>
                <a:spcPct val="107000"/>
              </a:lnSpc>
              <a:spcAft>
                <a:spcPts val="800"/>
              </a:spcAft>
              <a:buFont typeface="Arial" panose="020B0604020202020204" pitchFamily="34" charset="0"/>
              <a:buChar char="•"/>
              <a:tabLst>
                <a:tab pos="457200" algn="l"/>
              </a:tabLst>
            </a:pPr>
            <a:endParaRPr lang="en-IN" sz="1600" u="sng"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3317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6C0921-46D1-30A3-E762-1C2A55355117}"/>
              </a:ext>
            </a:extLst>
          </p:cNvPr>
          <p:cNvSpPr>
            <a:spLocks noGrp="1"/>
          </p:cNvSpPr>
          <p:nvPr>
            <p:ph type="body" idx="1"/>
          </p:nvPr>
        </p:nvSpPr>
        <p:spPr>
          <a:xfrm>
            <a:off x="311700" y="84564"/>
            <a:ext cx="8520600" cy="4822031"/>
          </a:xfrm>
        </p:spPr>
        <p:txBody>
          <a:bodyPr>
            <a:normAutofit fontScale="92500" lnSpcReduction="20000"/>
          </a:bodyPr>
          <a:lstStyle/>
          <a:p>
            <a:pPr algn="l">
              <a:buFont typeface="Arial" panose="020B0604020202020204" pitchFamily="34" charset="0"/>
              <a:buChar char="•"/>
            </a:pPr>
            <a:r>
              <a:rPr lang="en-US" sz="1500" b="0" i="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Set the debug message level to 2.</a:t>
            </a:r>
          </a:p>
          <a:p>
            <a:pPr algn="l">
              <a:buFont typeface="Arial" panose="020B0604020202020204" pitchFamily="34" charset="0"/>
              <a:buChar char="•"/>
            </a:pPr>
            <a:r>
              <a:rPr lang="en-US" sz="1500" b="0" i="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Print debug information.</a:t>
            </a:r>
          </a:p>
          <a:p>
            <a:pPr marL="0" lvl="0" indent="0">
              <a:lnSpc>
                <a:spcPct val="107000"/>
              </a:lnSpc>
              <a:spcAft>
                <a:spcPts val="800"/>
              </a:spcAft>
              <a:buNone/>
              <a:tabLst>
                <a:tab pos="457200" algn="l"/>
              </a:tabLst>
            </a:pPr>
            <a:r>
              <a:rPr lang="en-IN" sz="1700" b="1" kern="0" dirty="0">
                <a:solidFill>
                  <a:schemeClr val="bg1"/>
                </a:solidFill>
                <a:latin typeface="Calibri" panose="020F0502020204030204" pitchFamily="34" charset="0"/>
                <a:ea typeface="Calibri" panose="020F0502020204030204" pitchFamily="34" charset="0"/>
                <a:cs typeface="Calibri" panose="020F0502020204030204" pitchFamily="34" charset="0"/>
              </a:rPr>
              <a:t>  3. </a:t>
            </a:r>
            <a:r>
              <a:rPr lang="en-IN" sz="1700" b="1" u="sng" kern="0" dirty="0">
                <a:solidFill>
                  <a:schemeClr val="bg1"/>
                </a:solidFill>
                <a:latin typeface="Calibri" panose="020F0502020204030204" pitchFamily="34" charset="0"/>
                <a:ea typeface="Calibri" panose="020F0502020204030204" pitchFamily="34" charset="0"/>
                <a:cs typeface="Calibri" panose="020F0502020204030204" pitchFamily="34" charset="0"/>
              </a:rPr>
              <a:t>Loop Function (loop())</a:t>
            </a:r>
            <a:r>
              <a:rPr lang="en-IN" sz="1700" b="1" kern="0"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en-IN" sz="1700" b="1" kern="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500" b="0" i="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Update the Arduino IoT Cloud connection and read the analog data from the gas sensor</a:t>
            </a:r>
          </a:p>
          <a:p>
            <a:pPr>
              <a:buFont typeface="Arial" panose="020B0604020202020204" pitchFamily="34" charset="0"/>
              <a:buChar char="•"/>
            </a:pPr>
            <a:r>
              <a:rPr lang="en-IN" sz="1500"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Call the </a:t>
            </a:r>
            <a:r>
              <a:rPr lang="en-IN" sz="1500" b="1" kern="0" dirty="0" err="1">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dht_sensor_getdata</a:t>
            </a:r>
            <a:r>
              <a:rPr lang="en-IN" sz="1500" b="1"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IN" sz="1500"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function. </a:t>
            </a:r>
          </a:p>
          <a:p>
            <a:pPr marL="114300" indent="0">
              <a:buNone/>
            </a:pPr>
            <a:r>
              <a:rPr lang="en-IN" sz="1700" b="1" kern="0" dirty="0">
                <a:solidFill>
                  <a:schemeClr val="bg1"/>
                </a:solidFill>
                <a:latin typeface="Calibri" panose="020F0502020204030204" pitchFamily="34" charset="0"/>
                <a:ea typeface="Calibri" panose="020F0502020204030204" pitchFamily="34" charset="0"/>
                <a:cs typeface="Calibri" panose="020F0502020204030204" pitchFamily="34" charset="0"/>
              </a:rPr>
              <a:t>4.</a:t>
            </a:r>
            <a:r>
              <a:rPr lang="en-IN" sz="1700" b="1" u="sng" kern="0" dirty="0">
                <a:solidFill>
                  <a:schemeClr val="bg1"/>
                </a:solidFill>
                <a:latin typeface="Calibri" panose="020F0502020204030204" pitchFamily="34" charset="0"/>
                <a:ea typeface="Calibri" panose="020F0502020204030204" pitchFamily="34" charset="0"/>
                <a:cs typeface="Calibri" panose="020F0502020204030204" pitchFamily="34" charset="0"/>
              </a:rPr>
              <a:t>DHT Sensor Data </a:t>
            </a:r>
            <a:r>
              <a:rPr lang="en-IN" sz="1700" b="1" u="sng" kern="0" dirty="0" err="1">
                <a:solidFill>
                  <a:schemeClr val="bg1"/>
                </a:solidFill>
                <a:latin typeface="Calibri" panose="020F0502020204030204" pitchFamily="34" charset="0"/>
                <a:ea typeface="Calibri" panose="020F0502020204030204" pitchFamily="34" charset="0"/>
                <a:cs typeface="Calibri" panose="020F0502020204030204" pitchFamily="34" charset="0"/>
              </a:rPr>
              <a:t>Retrival</a:t>
            </a:r>
            <a:r>
              <a:rPr lang="en-IN" sz="1700" b="1" u="sng" kern="0" dirty="0">
                <a:solidFill>
                  <a:schemeClr val="bg1"/>
                </a:solidFill>
                <a:latin typeface="Calibri" panose="020F0502020204030204" pitchFamily="34" charset="0"/>
                <a:ea typeface="Calibri" panose="020F0502020204030204" pitchFamily="34" charset="0"/>
                <a:cs typeface="Calibri" panose="020F0502020204030204" pitchFamily="34" charset="0"/>
              </a:rPr>
              <a:t> Function (</a:t>
            </a:r>
            <a:r>
              <a:rPr lang="en-IN" sz="1700" b="1" u="sng" kern="0" dirty="0" err="1">
                <a:solidFill>
                  <a:schemeClr val="bg1"/>
                </a:solidFill>
                <a:latin typeface="Calibri" panose="020F0502020204030204" pitchFamily="34" charset="0"/>
                <a:ea typeface="Calibri" panose="020F0502020204030204" pitchFamily="34" charset="0"/>
                <a:cs typeface="Calibri" panose="020F0502020204030204" pitchFamily="34" charset="0"/>
              </a:rPr>
              <a:t>dht_sensor_getdata</a:t>
            </a:r>
            <a:r>
              <a:rPr lang="en-IN" sz="1700" b="1" u="sng" kern="0"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IN" sz="1700" b="1" kern="0"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en-IN" sz="1700" b="1" kern="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Read the humidity value from the DHT11 sensor and store it in the </a:t>
            </a:r>
            <a:r>
              <a:rPr lang="en-IN" b="1"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hm</a:t>
            </a:r>
            <a:r>
              <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variable.</a:t>
            </a:r>
            <a:endParaRPr lang="en-IN"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Print the humidity value to the Serial Monitor.</a:t>
            </a:r>
            <a:endParaRPr lang="en-IN"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Read the temperature value from the DHT11 sensor and store it in the </a:t>
            </a:r>
            <a:r>
              <a:rPr lang="en-IN" b="1"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temp</a:t>
            </a:r>
            <a:r>
              <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variable.</a:t>
            </a:r>
            <a:endParaRPr lang="en-IN"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Print the temperature value to the Serial Monitor.</a:t>
            </a:r>
            <a:endParaRPr lang="en-IN"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Update the IoT Cloud variables </a:t>
            </a:r>
            <a:r>
              <a:rPr lang="en-IN" b="1"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humidity</a:t>
            </a:r>
            <a:r>
              <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and </a:t>
            </a:r>
            <a:r>
              <a:rPr lang="en-IN" b="1"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temperature</a:t>
            </a:r>
            <a:r>
              <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with the new values.</a:t>
            </a:r>
            <a:endParaRPr lang="en-IN"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Construct a message (</a:t>
            </a:r>
            <a:r>
              <a:rPr lang="en-IN" b="1" kern="0" dirty="0" err="1">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msg</a:t>
            </a:r>
            <a:r>
              <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containing both temperature and humidity values in a formatted string.</a:t>
            </a:r>
          </a:p>
          <a:p>
            <a:pPr marL="742950" lvl="1" indent="-285750">
              <a:lnSpc>
                <a:spcPct val="107000"/>
              </a:lnSpc>
              <a:spcAft>
                <a:spcPts val="800"/>
              </a:spcAft>
              <a:buSzPts val="1000"/>
              <a:buFont typeface="Symbol" panose="05050102010706020507" pitchFamily="18" charset="2"/>
              <a:buChar char=""/>
              <a:tabLst>
                <a:tab pos="914400" algn="l"/>
              </a:tabLst>
            </a:pPr>
            <a:endParaRPr lang="en-IN"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0" lvl="0" indent="0">
              <a:lnSpc>
                <a:spcPct val="107000"/>
              </a:lnSpc>
              <a:spcAft>
                <a:spcPts val="800"/>
              </a:spcAft>
              <a:buNone/>
              <a:tabLst>
                <a:tab pos="457200" algn="l"/>
              </a:tabLst>
            </a:pPr>
            <a:r>
              <a:rPr lang="en-IN" sz="1500" b="1"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 </a:t>
            </a:r>
            <a:r>
              <a:rPr lang="en-IN" sz="1500" b="1" u="sng"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Variable Change Callbacks (</a:t>
            </a:r>
            <a:r>
              <a:rPr lang="en-IN" sz="1500" b="1" u="sng" kern="0" dirty="0" err="1">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onHumidityChange</a:t>
            </a:r>
            <a:r>
              <a:rPr lang="en-IN" sz="1500" b="1" u="sng"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and </a:t>
            </a:r>
            <a:r>
              <a:rPr lang="en-IN" sz="1500" b="1" u="sng" kern="0" dirty="0" err="1">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onMsgChange</a:t>
            </a:r>
            <a:r>
              <a:rPr lang="en-IN" sz="1500" b="1" u="sng"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IN" sz="1500" b="1"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endParaRPr lang="en-IN" sz="1500" b="1"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0" lvl="0" indent="0">
              <a:lnSpc>
                <a:spcPct val="107000"/>
              </a:lnSpc>
              <a:spcAft>
                <a:spcPts val="800"/>
              </a:spcAft>
              <a:buNone/>
              <a:tabLst>
                <a:tab pos="457200" algn="l"/>
              </a:tabLst>
            </a:pPr>
            <a:r>
              <a:rPr lang="en-IN" sz="1500" kern="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These functions are currently empty and serve as placeholders for actions that can be taken when IoT Cloud variables are changed. You can customize these functions to implement specific actions based on humidity and message data changes</a:t>
            </a:r>
            <a:endParaRPr lang="en-IN" sz="1500" kern="10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10210543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2596366-BC11-2D30-814C-BFA743358996}"/>
              </a:ext>
            </a:extLst>
          </p:cNvPr>
          <p:cNvPicPr>
            <a:picLocks noChangeAspect="1"/>
          </p:cNvPicPr>
          <p:nvPr/>
        </p:nvPicPr>
        <p:blipFill rotWithShape="1">
          <a:blip r:embed="rId2"/>
          <a:srcRect l="16240" t="15972" r="16000" b="11111"/>
          <a:stretch/>
        </p:blipFill>
        <p:spPr>
          <a:xfrm>
            <a:off x="4722019" y="1204057"/>
            <a:ext cx="4229100" cy="3467955"/>
          </a:xfrm>
          <a:prstGeom prst="rect">
            <a:avLst/>
          </a:prstGeom>
        </p:spPr>
      </p:pic>
      <p:pic>
        <p:nvPicPr>
          <p:cNvPr id="16" name="Picture 15">
            <a:extLst>
              <a:ext uri="{FF2B5EF4-FFF2-40B4-BE49-F238E27FC236}">
                <a16:creationId xmlns:a16="http://schemas.microsoft.com/office/drawing/2014/main" id="{F92AC96F-5E02-AD13-A8E0-4F8D888AB8E3}"/>
              </a:ext>
            </a:extLst>
          </p:cNvPr>
          <p:cNvPicPr>
            <a:picLocks noChangeAspect="1"/>
          </p:cNvPicPr>
          <p:nvPr/>
        </p:nvPicPr>
        <p:blipFill rotWithShape="1">
          <a:blip r:embed="rId3"/>
          <a:srcRect r="-471" b="6250"/>
          <a:stretch/>
        </p:blipFill>
        <p:spPr>
          <a:xfrm>
            <a:off x="257174" y="1204057"/>
            <a:ext cx="4314825" cy="3467955"/>
          </a:xfrm>
          <a:prstGeom prst="rect">
            <a:avLst/>
          </a:prstGeom>
        </p:spPr>
      </p:pic>
      <p:sp>
        <p:nvSpPr>
          <p:cNvPr id="21" name="TextBox 20">
            <a:extLst>
              <a:ext uri="{FF2B5EF4-FFF2-40B4-BE49-F238E27FC236}">
                <a16:creationId xmlns:a16="http://schemas.microsoft.com/office/drawing/2014/main" id="{32DF36BF-0DA2-BB68-FF08-C447AAE7266D}"/>
              </a:ext>
            </a:extLst>
          </p:cNvPr>
          <p:cNvSpPr txBox="1"/>
          <p:nvPr/>
        </p:nvSpPr>
        <p:spPr>
          <a:xfrm>
            <a:off x="1485900" y="228600"/>
            <a:ext cx="6336506" cy="707886"/>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pPr algn="ctr"/>
            <a:r>
              <a:rPr lang="en-IN" sz="4000" b="1" dirty="0">
                <a:solidFill>
                  <a:schemeClr val="bg1"/>
                </a:solidFill>
                <a:effectLst>
                  <a:outerShdw blurRad="38100" dist="38100" dir="2700000" algn="tl">
                    <a:srgbClr val="000000">
                      <a:alpha val="43137"/>
                    </a:srgbClr>
                  </a:outerShdw>
                </a:effectLst>
                <a:latin typeface="Arial Black" panose="020B0A04020102020204" pitchFamily="34" charset="0"/>
              </a:rPr>
              <a:t>ARDUINO IOT CLOUD</a:t>
            </a:r>
          </a:p>
        </p:txBody>
      </p:sp>
    </p:spTree>
    <p:extLst>
      <p:ext uri="{BB962C8B-B14F-4D97-AF65-F5344CB8AC3E}">
        <p14:creationId xmlns:p14="http://schemas.microsoft.com/office/powerpoint/2010/main" val="4713012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23267D-9831-D906-74C1-7A15BA4D5A0C}"/>
              </a:ext>
            </a:extLst>
          </p:cNvPr>
          <p:cNvPicPr>
            <a:picLocks noChangeAspect="1"/>
          </p:cNvPicPr>
          <p:nvPr/>
        </p:nvPicPr>
        <p:blipFill rotWithShape="1">
          <a:blip r:embed="rId2"/>
          <a:srcRect l="15547" t="9167" r="11953" b="22500"/>
          <a:stretch/>
        </p:blipFill>
        <p:spPr>
          <a:xfrm>
            <a:off x="142875" y="1164431"/>
            <a:ext cx="4464669" cy="3614738"/>
          </a:xfrm>
          <a:prstGeom prst="rect">
            <a:avLst/>
          </a:prstGeom>
        </p:spPr>
      </p:pic>
      <p:pic>
        <p:nvPicPr>
          <p:cNvPr id="6" name="Picture 5">
            <a:extLst>
              <a:ext uri="{FF2B5EF4-FFF2-40B4-BE49-F238E27FC236}">
                <a16:creationId xmlns:a16="http://schemas.microsoft.com/office/drawing/2014/main" id="{70568BE3-EBFC-B8FF-AAE7-AA6DADB7DA7C}"/>
              </a:ext>
            </a:extLst>
          </p:cNvPr>
          <p:cNvPicPr>
            <a:picLocks noChangeAspect="1"/>
          </p:cNvPicPr>
          <p:nvPr/>
        </p:nvPicPr>
        <p:blipFill rotWithShape="1">
          <a:blip r:embed="rId3"/>
          <a:srcRect t="9029" r="24297" b="4860"/>
          <a:stretch/>
        </p:blipFill>
        <p:spPr>
          <a:xfrm>
            <a:off x="4739878" y="1164430"/>
            <a:ext cx="4211241" cy="3614737"/>
          </a:xfrm>
          <a:prstGeom prst="rect">
            <a:avLst/>
          </a:prstGeom>
        </p:spPr>
      </p:pic>
      <p:sp>
        <p:nvSpPr>
          <p:cNvPr id="7" name="TextBox 6">
            <a:extLst>
              <a:ext uri="{FF2B5EF4-FFF2-40B4-BE49-F238E27FC236}">
                <a16:creationId xmlns:a16="http://schemas.microsoft.com/office/drawing/2014/main" id="{0357075D-0D8C-8DA0-FB47-84A9C03C84B3}"/>
              </a:ext>
            </a:extLst>
          </p:cNvPr>
          <p:cNvSpPr txBox="1"/>
          <p:nvPr/>
        </p:nvSpPr>
        <p:spPr>
          <a:xfrm>
            <a:off x="1193006" y="157163"/>
            <a:ext cx="6350794" cy="707886"/>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pPr algn="ctr"/>
            <a:r>
              <a:rPr lang="en-IN" sz="4000" b="1" dirty="0">
                <a:solidFill>
                  <a:schemeClr val="bg1"/>
                </a:solidFill>
                <a:effectLst>
                  <a:outerShdw blurRad="38100" dist="38100" dir="2700000" algn="tl">
                    <a:srgbClr val="000000">
                      <a:alpha val="43137"/>
                    </a:srgbClr>
                  </a:outerShdw>
                </a:effectLst>
                <a:latin typeface="Arial Black" panose="020B0A04020102020204" pitchFamily="34" charset="0"/>
              </a:rPr>
              <a:t>ARDUINO IOT CLOUD</a:t>
            </a:r>
          </a:p>
        </p:txBody>
      </p:sp>
    </p:spTree>
    <p:extLst>
      <p:ext uri="{BB962C8B-B14F-4D97-AF65-F5344CB8AC3E}">
        <p14:creationId xmlns:p14="http://schemas.microsoft.com/office/powerpoint/2010/main" val="18010360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extLst>
              <a:ext uri="{BEBA8EAE-BF5A-486C-A8C5-ECC9F3942E4B}">
                <a14:imgProps xmlns:a14="http://schemas.microsoft.com/office/drawing/2010/main">
                  <a14:imgLayer r:embed="rId4">
                    <a14:imgEffect>
                      <a14:sharpenSoften amount="-8000"/>
                    </a14:imgEffect>
                  </a14:imgLayer>
                </a14:imgProps>
              </a:ext>
            </a:extLst>
          </a:blip>
          <a:stretch/>
        </a:blipFill>
        <a:effectLst/>
      </p:bgPr>
    </p:bg>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311700" y="124301"/>
            <a:ext cx="8520600" cy="853439"/>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spcFirstLastPara="1" wrap="square" lIns="91425" tIns="91425" rIns="91425" bIns="91425" anchor="t" anchorCtr="0">
            <a:noAutofit/>
          </a:bodyPr>
          <a:lstStyle/>
          <a:p>
            <a:pPr marL="0" lvl="0" indent="0" algn="ctr" rtl="0">
              <a:spcBef>
                <a:spcPts val="0"/>
              </a:spcBef>
              <a:spcAft>
                <a:spcPts val="0"/>
              </a:spcAft>
              <a:buNone/>
            </a:pPr>
            <a:r>
              <a:rPr lang="en" sz="4000" dirty="0">
                <a:solidFill>
                  <a:schemeClr val="bg1"/>
                </a:solidFill>
                <a:effectLst>
                  <a:outerShdw blurRad="38100" dist="38100" dir="2700000" algn="tl">
                    <a:srgbClr val="000000">
                      <a:alpha val="43137"/>
                    </a:srgbClr>
                  </a:outerShdw>
                </a:effectLst>
                <a:latin typeface="Arial Black" panose="020B0A04020102020204" pitchFamily="34" charset="0"/>
              </a:rPr>
              <a:t>APPLICATIONS</a:t>
            </a:r>
            <a:endParaRPr sz="4000" dirty="0">
              <a:solidFill>
                <a:schemeClr val="bg1"/>
              </a:solidFill>
              <a:effectLst>
                <a:outerShdw blurRad="38100" dist="38100" dir="2700000" algn="tl">
                  <a:srgbClr val="000000">
                    <a:alpha val="43137"/>
                  </a:srgbClr>
                </a:outerShdw>
              </a:effectLst>
              <a:latin typeface="Arial Black" panose="020B0A04020102020204" pitchFamily="34" charset="0"/>
            </a:endParaRPr>
          </a:p>
        </p:txBody>
      </p:sp>
      <p:sp>
        <p:nvSpPr>
          <p:cNvPr id="94" name="Google Shape;94;p18"/>
          <p:cNvSpPr txBox="1">
            <a:spLocks noGrp="1"/>
          </p:cNvSpPr>
          <p:nvPr>
            <p:ph type="body" idx="1"/>
          </p:nvPr>
        </p:nvSpPr>
        <p:spPr>
          <a:xfrm>
            <a:off x="528638" y="921544"/>
            <a:ext cx="8303661" cy="4097655"/>
          </a:xfrm>
          <a:prstGeom prst="rect">
            <a:avLst/>
          </a:prstGeom>
        </p:spPr>
        <p:txBody>
          <a:bodyPr spcFirstLastPara="1" wrap="square" lIns="91425" tIns="91425" rIns="91425" bIns="91425" anchor="t" anchorCtr="0">
            <a:normAutofit/>
          </a:bodyPr>
          <a:lstStyle/>
          <a:p>
            <a:pPr lvl="0" algn="l" rtl="0">
              <a:lnSpc>
                <a:spcPct val="150000"/>
              </a:lnSpc>
              <a:spcBef>
                <a:spcPts val="0"/>
              </a:spcBef>
              <a:spcAft>
                <a:spcPts val="0"/>
              </a:spcAft>
              <a:buSzPts val="1800"/>
              <a:buFont typeface="Wingdings" panose="05000000000000000000" pitchFamily="2" charset="2"/>
              <a:buChar char="v"/>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Agriculture</a:t>
            </a:r>
          </a:p>
          <a:p>
            <a:pPr lvl="0" algn="l" rtl="0">
              <a:lnSpc>
                <a:spcPct val="150000"/>
              </a:lnSpc>
              <a:spcBef>
                <a:spcPts val="0"/>
              </a:spcBef>
              <a:spcAft>
                <a:spcPts val="0"/>
              </a:spcAft>
              <a:buSzPts val="1800"/>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Transportation</a:t>
            </a:r>
          </a:p>
          <a:p>
            <a:pPr lvl="0" algn="l" rtl="0">
              <a:lnSpc>
                <a:spcPct val="150000"/>
              </a:lnSpc>
              <a:spcBef>
                <a:spcPts val="0"/>
              </a:spcBef>
              <a:spcAft>
                <a:spcPts val="0"/>
              </a:spcAft>
              <a:buSzPts val="1800"/>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Infrastructure Maintenance</a:t>
            </a:r>
          </a:p>
          <a:p>
            <a:pPr lvl="0" algn="l" rtl="0">
              <a:lnSpc>
                <a:spcPct val="150000"/>
              </a:lnSpc>
              <a:spcBef>
                <a:spcPts val="0"/>
              </a:spcBef>
              <a:spcAft>
                <a:spcPts val="0"/>
              </a:spcAft>
              <a:buSzPts val="1800"/>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Research and Education</a:t>
            </a:r>
          </a:p>
          <a:p>
            <a:pPr lvl="0" algn="l" rtl="0">
              <a:lnSpc>
                <a:spcPct val="150000"/>
              </a:lnSpc>
              <a:spcBef>
                <a:spcPts val="0"/>
              </a:spcBef>
              <a:spcAft>
                <a:spcPts val="0"/>
              </a:spcAft>
              <a:buSzPts val="1800"/>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Healthcare</a:t>
            </a:r>
            <a:endParaRPr lang="en-IN" sz="2000" dirty="0">
              <a:solidFill>
                <a:srgbClr val="222222"/>
              </a:solidFill>
              <a:latin typeface="Calibri" panose="020F0502020204030204" pitchFamily="34" charset="0"/>
              <a:ea typeface="Calibri" panose="020F0502020204030204" pitchFamily="34" charset="0"/>
              <a:cs typeface="Calibri" panose="020F0502020204030204" pitchFamily="34" charset="0"/>
            </a:endParaRPr>
          </a:p>
          <a:p>
            <a:pPr lvl="0" algn="l" rtl="0">
              <a:lnSpc>
                <a:spcPct val="150000"/>
              </a:lnSpc>
              <a:spcBef>
                <a:spcPts val="0"/>
              </a:spcBef>
              <a:spcAft>
                <a:spcPts val="0"/>
              </a:spcAft>
              <a:buSzPts val="1800"/>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Construction</a:t>
            </a:r>
          </a:p>
          <a:p>
            <a:pPr lvl="0" algn="l" rtl="0">
              <a:lnSpc>
                <a:spcPct val="150000"/>
              </a:lnSpc>
              <a:spcBef>
                <a:spcPts val="0"/>
              </a:spcBef>
              <a:spcAft>
                <a:spcPts val="0"/>
              </a:spcAft>
              <a:buSzPts val="1800"/>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Smart Cities</a:t>
            </a:r>
            <a:endParaRPr lang="en-IN" sz="2000" dirty="0">
              <a:solidFill>
                <a:srgbClr val="222222"/>
              </a:solidFill>
              <a:latin typeface="Calibri" panose="020F0502020204030204" pitchFamily="34" charset="0"/>
              <a:ea typeface="Calibri" panose="020F0502020204030204" pitchFamily="34" charset="0"/>
              <a:cs typeface="Calibri" panose="020F0502020204030204" pitchFamily="34" charset="0"/>
            </a:endParaRPr>
          </a:p>
          <a:p>
            <a:pPr lvl="0" algn="l" rtl="0">
              <a:spcBef>
                <a:spcPts val="0"/>
              </a:spcBef>
              <a:spcAft>
                <a:spcPts val="0"/>
              </a:spcAft>
              <a:buSzPts val="1800"/>
              <a:buFont typeface="Wingdings" panose="05000000000000000000" pitchFamily="2" charset="2"/>
              <a:buChar char="v"/>
            </a:pPr>
            <a:endPar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endParaRPr>
          </a:p>
          <a:p>
            <a:pPr lvl="0" algn="l" rtl="0">
              <a:spcBef>
                <a:spcPts val="0"/>
              </a:spcBef>
              <a:spcAft>
                <a:spcPts val="0"/>
              </a:spcAft>
              <a:buSzPts val="1800"/>
              <a:buFont typeface="Wingdings" panose="05000000000000000000" pitchFamily="2" charset="2"/>
              <a:buChar char="v"/>
            </a:pPr>
            <a:endParaRPr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695D5-BBAC-708C-3873-3D25D470936A}"/>
              </a:ext>
            </a:extLst>
          </p:cNvPr>
          <p:cNvSpPr>
            <a:spLocks noGrp="1"/>
          </p:cNvSpPr>
          <p:nvPr>
            <p:ph type="title"/>
          </p:nvPr>
        </p:nvSpPr>
        <p:spPr>
          <a:xfrm>
            <a:off x="311700" y="0"/>
            <a:ext cx="8520600" cy="769620"/>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Autofit/>
          </a:bodyPr>
          <a:lstStyle/>
          <a:p>
            <a:pPr algn="ctr"/>
            <a:r>
              <a:rPr lang="en-IN" sz="4000" b="1" dirty="0">
                <a:solidFill>
                  <a:schemeClr val="bg1"/>
                </a:solidFill>
                <a:effectLst>
                  <a:outerShdw blurRad="38100" dist="38100" dir="2700000" algn="tl">
                    <a:srgbClr val="000000">
                      <a:alpha val="43137"/>
                    </a:srgbClr>
                  </a:outerShdw>
                </a:effectLst>
                <a:latin typeface="Arial Black" panose="020B0A04020102020204" pitchFamily="34" charset="0"/>
              </a:rPr>
              <a:t>BENEFITS</a:t>
            </a:r>
          </a:p>
        </p:txBody>
      </p:sp>
      <p:sp>
        <p:nvSpPr>
          <p:cNvPr id="3" name="Text Placeholder 2">
            <a:extLst>
              <a:ext uri="{FF2B5EF4-FFF2-40B4-BE49-F238E27FC236}">
                <a16:creationId xmlns:a16="http://schemas.microsoft.com/office/drawing/2014/main" id="{81966237-0799-6DAA-700B-2EA41F45B9F2}"/>
              </a:ext>
            </a:extLst>
          </p:cNvPr>
          <p:cNvSpPr>
            <a:spLocks noGrp="1"/>
          </p:cNvSpPr>
          <p:nvPr>
            <p:ph type="body" idx="1"/>
          </p:nvPr>
        </p:nvSpPr>
        <p:spPr>
          <a:xfrm>
            <a:off x="478630" y="828675"/>
            <a:ext cx="8353669" cy="4014788"/>
          </a:xfrm>
        </p:spPr>
        <p:txBody>
          <a:bodyPr>
            <a:normAutofit/>
          </a:bodyPr>
          <a:lstStyle/>
          <a:p>
            <a:pPr>
              <a:lnSpc>
                <a:spcPct val="150000"/>
              </a:lnSpc>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Real-time Data</a:t>
            </a:r>
          </a:p>
          <a:p>
            <a:pPr>
              <a:lnSpc>
                <a:spcPct val="150000"/>
              </a:lnSpc>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Data Accuracy</a:t>
            </a:r>
          </a:p>
          <a:p>
            <a:pPr>
              <a:lnSpc>
                <a:spcPct val="150000"/>
              </a:lnSpc>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Remote Monitoring</a:t>
            </a:r>
          </a:p>
          <a:p>
            <a:pPr>
              <a:lnSpc>
                <a:spcPct val="150000"/>
              </a:lnSpc>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Environmental Monitoring</a:t>
            </a:r>
          </a:p>
          <a:p>
            <a:pPr>
              <a:lnSpc>
                <a:spcPct val="150000"/>
              </a:lnSpc>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Data-Driven Decision Making</a:t>
            </a:r>
          </a:p>
          <a:p>
            <a:pPr>
              <a:lnSpc>
                <a:spcPct val="150000"/>
              </a:lnSpc>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User-Friendly Interfaces</a:t>
            </a:r>
          </a:p>
          <a:p>
            <a:pPr>
              <a:lnSpc>
                <a:spcPct val="150000"/>
              </a:lnSpc>
              <a:buFont typeface="Wingdings" panose="05000000000000000000" pitchFamily="2" charset="2"/>
              <a:buChar char="v"/>
            </a:pPr>
            <a:r>
              <a:rPr lang="en-IN"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Improved Public Safety</a:t>
            </a:r>
          </a:p>
          <a:p>
            <a:pPr>
              <a:buFont typeface="Wingdings" panose="05000000000000000000" pitchFamily="2" charset="2"/>
              <a:buChar char="v"/>
            </a:pPr>
            <a:endParaRPr lang="en-IN" sz="14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endParaRPr lang="en-IN" sz="14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endParaRPr lang="en-IN" sz="1400" dirty="0">
              <a:solidFill>
                <a:srgbClr val="222222"/>
              </a:solidFill>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endParaRPr lang="en-IN" sz="14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endParaRPr lang="en-IN" sz="1400" dirty="0">
              <a:solidFill>
                <a:srgbClr val="222222"/>
              </a:solidFill>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endParaRPr lang="en-IN" sz="14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endParaRPr lang="en-IN" sz="14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17443645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7FFA6-2814-E81F-2878-EBBAD15FF3A2}"/>
              </a:ext>
            </a:extLst>
          </p:cNvPr>
          <p:cNvSpPr>
            <a:spLocks noGrp="1"/>
          </p:cNvSpPr>
          <p:nvPr>
            <p:ph type="title"/>
          </p:nvPr>
        </p:nvSpPr>
        <p:spPr>
          <a:xfrm>
            <a:off x="857250" y="764382"/>
            <a:ext cx="7429499" cy="742949"/>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p>
            <a:pPr algn="ctr"/>
            <a:r>
              <a:rPr lang="en-IN" sz="4000" dirty="0">
                <a:solidFill>
                  <a:schemeClr val="bg1"/>
                </a:solidFill>
                <a:effectLst>
                  <a:outerShdw blurRad="38100" dist="38100" dir="2700000" algn="tl">
                    <a:srgbClr val="000000">
                      <a:alpha val="43137"/>
                    </a:srgbClr>
                  </a:outerShdw>
                </a:effectLst>
                <a:latin typeface="Arial Black" panose="020B0A04020102020204" pitchFamily="34" charset="0"/>
              </a:rPr>
              <a:t>CONCLUSION</a:t>
            </a:r>
          </a:p>
        </p:txBody>
      </p:sp>
      <p:sp>
        <p:nvSpPr>
          <p:cNvPr id="3" name="Content Placeholder 2">
            <a:extLst>
              <a:ext uri="{FF2B5EF4-FFF2-40B4-BE49-F238E27FC236}">
                <a16:creationId xmlns:a16="http://schemas.microsoft.com/office/drawing/2014/main" id="{17D8FAC3-84B8-9D7F-E188-18C7A7BADFC7}"/>
              </a:ext>
            </a:extLst>
          </p:cNvPr>
          <p:cNvSpPr>
            <a:spLocks noGrp="1"/>
          </p:cNvSpPr>
          <p:nvPr>
            <p:ph idx="1"/>
          </p:nvPr>
        </p:nvSpPr>
        <p:spPr>
          <a:xfrm>
            <a:off x="714375" y="857251"/>
            <a:ext cx="7729537" cy="3429000"/>
          </a:xfrm>
        </p:spPr>
        <p:txBody>
          <a:bodyPr anchor="ctr">
            <a:normAutofit/>
          </a:bodyPr>
          <a:lstStyle/>
          <a:p>
            <a:pPr marL="0" indent="0">
              <a:buNone/>
            </a:pP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7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We Conclude That The Weather Reporting System Using IoT Is Quite Cost Effective, Efficient And The Data Collected Can Also Be Post On Cloud As Well. Hence, This System Is Useful In Continuous Monitoring Of The Environment. </a:t>
            </a:r>
          </a:p>
        </p:txBody>
      </p:sp>
    </p:spTree>
    <p:extLst>
      <p:ext uri="{BB962C8B-B14F-4D97-AF65-F5344CB8AC3E}">
        <p14:creationId xmlns:p14="http://schemas.microsoft.com/office/powerpoint/2010/main" val="13878913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440287" y="1628776"/>
            <a:ext cx="8520600" cy="303439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spcFirstLastPara="1" wrap="square" lIns="91425" tIns="91425" rIns="91425" bIns="91425" anchor="t" anchorCtr="0">
            <a:normAutofit/>
          </a:bodyPr>
          <a:lstStyle/>
          <a:p>
            <a:pPr marL="0" lvl="0" indent="0" algn="ctr" rtl="0">
              <a:spcBef>
                <a:spcPts val="0"/>
              </a:spcBef>
              <a:spcAft>
                <a:spcPts val="0"/>
              </a:spcAft>
              <a:buNone/>
            </a:pPr>
            <a:r>
              <a:rPr lang="en-IN" sz="8600" dirty="0">
                <a:solidFill>
                  <a:schemeClr val="bg1"/>
                </a:solidFill>
                <a:effectLst>
                  <a:outerShdw blurRad="38100" dist="38100" dir="2700000" algn="tl">
                    <a:srgbClr val="000000">
                      <a:alpha val="43137"/>
                    </a:srgbClr>
                  </a:outerShdw>
                </a:effectLst>
                <a:latin typeface="Arial Black" panose="020B0A04020102020204" pitchFamily="34" charset="0"/>
              </a:rPr>
              <a:t>THANK YOU</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1436</TotalTime>
  <Words>656</Words>
  <Application>Microsoft Office PowerPoint</Application>
  <PresentationFormat>On-screen Show (16:9)</PresentationFormat>
  <Paragraphs>102</Paragraphs>
  <Slides>16</Slides>
  <Notes>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16</vt:i4>
      </vt:variant>
    </vt:vector>
  </HeadingPairs>
  <TitlesOfParts>
    <vt:vector size="27" baseType="lpstr">
      <vt:lpstr>Engravers MT</vt:lpstr>
      <vt:lpstr>Dutch801 Rm BT</vt:lpstr>
      <vt:lpstr>Wingdings</vt:lpstr>
      <vt:lpstr>Arial Black</vt:lpstr>
      <vt:lpstr>Calibri Light</vt:lpstr>
      <vt:lpstr>Symbol</vt:lpstr>
      <vt:lpstr>Tw Cen MT</vt:lpstr>
      <vt:lpstr>Calibri</vt:lpstr>
      <vt:lpstr>Arial</vt:lpstr>
      <vt:lpstr>Circuit</vt:lpstr>
      <vt:lpstr>Office Theme</vt:lpstr>
      <vt:lpstr>PowerPoint Presentation</vt:lpstr>
      <vt:lpstr>IOT Based Weather Monitoring System</vt:lpstr>
      <vt:lpstr>INDEX</vt:lpstr>
      <vt:lpstr>INTRODUCTION</vt:lpstr>
      <vt:lpstr>COMPONENTS OF THE SYSTEM</vt:lpstr>
      <vt:lpstr>PowerPoint Presentation</vt:lpstr>
      <vt:lpstr>PowerPoint Presentation</vt:lpstr>
      <vt:lpstr>TOOLS/SOFTWARES, LANGUAGES USED</vt:lpstr>
      <vt:lpstr>ALGORITHM</vt:lpstr>
      <vt:lpstr>PowerPoint Presentation</vt:lpstr>
      <vt:lpstr>PowerPoint Presentation</vt:lpstr>
      <vt:lpstr>PowerPoint Presentation</vt:lpstr>
      <vt:lpstr>APPLICATIONS</vt:lpstr>
      <vt:lpstr>BENEFITS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Based Weather Monitoring System.</dc:title>
  <dc:creator>kunal#2000</dc:creator>
  <cp:lastModifiedBy>kunal pawar</cp:lastModifiedBy>
  <cp:revision>91</cp:revision>
  <dcterms:modified xsi:type="dcterms:W3CDTF">2023-11-03T15:50:15Z</dcterms:modified>
</cp:coreProperties>
</file>